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3E2"/>
    <a:srgbClr val="757575"/>
    <a:srgbClr val="643791"/>
    <a:srgbClr val="E6FF6E"/>
    <a:srgbClr val="D4EB66"/>
    <a:srgbClr val="E8E0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97"/>
    <p:restoredTop sz="97696"/>
  </p:normalViewPr>
  <p:slideViewPr>
    <p:cSldViewPr snapToGrid="0" snapToObjects="1">
      <p:cViewPr varScale="1">
        <p:scale>
          <a:sx n="102" d="100"/>
          <a:sy n="102" d="100"/>
        </p:scale>
        <p:origin x="216" y="1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8429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2FF92-6068-B815-02DE-D970CB521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DB017-CA4C-82FE-5FE7-0A1FC95D69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04ADF5-95FD-749B-6252-370C2599F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F8A82-35DA-6EFF-1274-237623735F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301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DM Sans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DM Sans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DM Sans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DM Sans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DM Sans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DM Sans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DM Sans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DM Sans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DM Sans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DM Sans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DM Sans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DM Sans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DM Sans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DM Sans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DM Sans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DM Sans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DM Sans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DM Sans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DM San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437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1143000" y="1143000"/>
            <a:ext cx="164820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0" dirty="0">
                <a:solidFill>
                  <a:srgbClr val="E5FF6E"/>
                </a:solidFill>
                <a:latin typeface="DM Sans"/>
                <a:ea typeface="Arial" pitchFamily="34" charset="-122"/>
                <a:cs typeface="Arial" pitchFamily="34" charset="-120"/>
              </a:rPr>
              <a:t>Advertising report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43000" y="1543050"/>
            <a:ext cx="11179810" cy="2762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500" b="1" kern="0" spc="-660" dirty="0">
                <a:solidFill>
                  <a:srgbClr val="FFFFFF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Adver</a:t>
            </a:r>
            <a:r>
              <a:rPr lang="en-US" sz="6600" b="1" kern="0" spc="-660" dirty="0">
                <a:solidFill>
                  <a:srgbClr val="FFFFFF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 </a:t>
            </a:r>
            <a:r>
              <a:rPr lang="en-US" sz="16500" b="1" kern="0" spc="-660" dirty="0">
                <a:solidFill>
                  <a:srgbClr val="FFFFFF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t</a:t>
            </a:r>
            <a:r>
              <a:rPr lang="en-US" sz="2600" b="1" kern="0" spc="-660" dirty="0">
                <a:solidFill>
                  <a:srgbClr val="FFFFFF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 </a:t>
            </a:r>
            <a:r>
              <a:rPr lang="en-US" sz="16500" b="1" kern="0" spc="-660" dirty="0" err="1">
                <a:solidFill>
                  <a:srgbClr val="FFFFFF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ising</a:t>
            </a:r>
            <a:endParaRPr lang="en-US" sz="16500" dirty="0">
              <a:latin typeface="DM Sans 14pt" pitchFamily="2" charset="77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43000" y="3848100"/>
            <a:ext cx="16482060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16500" b="1" kern="0" spc="-660" dirty="0" err="1">
                <a:solidFill>
                  <a:srgbClr val="E5FF6E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Repor</a:t>
            </a:r>
            <a:r>
              <a:rPr lang="en-US" sz="6600" b="1" kern="0" spc="-660" dirty="0">
                <a:solidFill>
                  <a:srgbClr val="FFFFFF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 </a:t>
            </a:r>
            <a:r>
              <a:rPr lang="en-US" sz="16500" b="1" kern="0" spc="-660" dirty="0">
                <a:solidFill>
                  <a:srgbClr val="E5FF6E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t</a:t>
            </a:r>
            <a:endParaRPr lang="en-US" sz="16500" dirty="0">
              <a:latin typeface="DM Sans 14pt" pitchFamily="2" charset="7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43000" y="8239125"/>
            <a:ext cx="425403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0" dirty="0">
                <a:solidFill>
                  <a:srgbClr val="E5FF6E"/>
                </a:solidFill>
                <a:latin typeface="DM Sans"/>
                <a:ea typeface="Arial" pitchFamily="34" charset="-122"/>
                <a:cs typeface="Arial" pitchFamily="34" charset="-120"/>
              </a:rPr>
              <a:t>Prepared for</a:t>
            </a:r>
            <a:endParaRPr lang="en-US" sz="1050" dirty="0">
              <a:latin typeface="DM San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143000" y="8582025"/>
            <a:ext cx="6263640" cy="540990"/>
          </a:xfrm>
          <a:prstGeom prst="roundRect">
            <a:avLst>
              <a:gd name="adj" fmla="val 7043"/>
            </a:avLst>
          </a:prstGeom>
          <a:noFill/>
          <a:ln/>
        </p:spPr>
        <p:txBody>
          <a:bodyPr/>
          <a:lstStyle/>
          <a:p>
            <a:r>
              <a:rPr lang="en-US" sz="2800" kern="0" spc="-72" dirty="0">
                <a:solidFill>
                  <a:srgbClr val="FFFFFF"/>
                </a:solidFill>
                <a:latin typeface="DM Sans"/>
                <a:ea typeface="Arial" pitchFamily="34" charset="-122"/>
                <a:cs typeface="Arial" pitchFamily="34" charset="-120"/>
              </a:rPr>
              <a:t>{{</a:t>
            </a:r>
            <a:r>
              <a:rPr lang="en-US" sz="2800" kern="0" spc="-72" dirty="0" err="1">
                <a:solidFill>
                  <a:srgbClr val="FFFFFF"/>
                </a:solidFill>
                <a:latin typeface="DM Sans"/>
                <a:ea typeface="Arial" pitchFamily="34" charset="-122"/>
                <a:cs typeface="Arial" pitchFamily="34" charset="-120"/>
              </a:rPr>
              <a:t>client_name</a:t>
            </a:r>
            <a:r>
              <a:rPr lang="en-US" sz="2800" kern="0" spc="-72" dirty="0">
                <a:solidFill>
                  <a:srgbClr val="FFFFFF"/>
                </a:solidFill>
                <a:latin typeface="DM Sans"/>
                <a:ea typeface="Arial" pitchFamily="34" charset="-122"/>
                <a:cs typeface="Arial" pitchFamily="34" charset="-120"/>
              </a:rPr>
              <a:t>}}</a:t>
            </a:r>
            <a:endParaRPr lang="en-US" sz="2800" dirty="0">
              <a:latin typeface="DM San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887277" y="8543925"/>
            <a:ext cx="23459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350" kern="0" spc="0" dirty="0">
                <a:solidFill>
                  <a:srgbClr val="FFFFFF">
                    <a:alpha val="75000"/>
                  </a:srgbClr>
                </a:solidFill>
                <a:latin typeface="DM Sans"/>
                <a:ea typeface="Arial" pitchFamily="34" charset="-122"/>
                <a:cs typeface="Arial" pitchFamily="34" charset="-120"/>
              </a:rPr>
              <a:t>Reporting period</a:t>
            </a:r>
            <a:endParaRPr lang="en-US" sz="1350" dirty="0">
              <a:latin typeface="DM San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606093" y="8852520"/>
            <a:ext cx="662716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950" kern="0" spc="293" dirty="0">
                <a:solidFill>
                  <a:schemeClr val="bg1"/>
                </a:solidFill>
                <a:latin typeface="DM Sans"/>
                <a:ea typeface="Arial" pitchFamily="34" charset="-122"/>
                <a:cs typeface="Arial" pitchFamily="34" charset="-120"/>
              </a:rPr>
              <a:t>{{PERIOD_START}} </a:t>
            </a:r>
            <a:r>
              <a:rPr lang="en-US" sz="1950" b="1" kern="0" spc="293" dirty="0">
                <a:solidFill>
                  <a:schemeClr val="bg1"/>
                </a:solidFill>
                <a:latin typeface="DM Sans"/>
                <a:ea typeface="Arial" pitchFamily="34" charset="-122"/>
                <a:cs typeface="Arial" pitchFamily="34" charset="-120"/>
              </a:rPr>
              <a:t>— </a:t>
            </a:r>
            <a:r>
              <a:rPr lang="en-US" sz="1950" kern="0" spc="293" dirty="0">
                <a:solidFill>
                  <a:schemeClr val="bg1"/>
                </a:solidFill>
                <a:latin typeface="DM Sans"/>
                <a:ea typeface="Arial" pitchFamily="34" charset="-122"/>
                <a:cs typeface="Arial" pitchFamily="34" charset="-120"/>
              </a:rPr>
              <a:t>{{PERIOD_END}}</a:t>
            </a:r>
            <a:endParaRPr lang="en-US" sz="1950" dirty="0">
              <a:solidFill>
                <a:schemeClr val="bg1"/>
              </a:solidFill>
              <a:latin typeface="DM San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9600" y="9742289"/>
            <a:ext cx="1704677" cy="163711"/>
          </a:xfrm>
          <a:prstGeom prst="roundRect">
            <a:avLst>
              <a:gd name="adj" fmla="val 23273"/>
            </a:avLst>
          </a:prstGeom>
          <a:solidFill>
            <a:srgbClr val="643791">
              <a:alpha val="8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85800" y="9761339"/>
            <a:ext cx="1628477" cy="1637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kern="0" spc="42" dirty="0">
                <a:solidFill>
                  <a:srgbClr val="643791"/>
                </a:solidFill>
                <a:latin typeface="DM Sans"/>
                <a:ea typeface="Arial" pitchFamily="34" charset="-122"/>
                <a:cs typeface="Arial" pitchFamily="34" charset="-120"/>
              </a:rPr>
              <a:t>Go places. Go public.</a:t>
            </a:r>
            <a:endParaRPr lang="en-US" sz="1000" dirty="0"/>
          </a:p>
        </p:txBody>
      </p:sp>
      <p:pic>
        <p:nvPicPr>
          <p:cNvPr id="17" name="Picture 16" descr="jobs-go-public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6250"/>
            <a:ext cx="1700000" cy="587234"/>
          </a:xfrm>
          <a:prstGeom prst="rect">
            <a:avLst/>
          </a:prstGeom>
        </p:spPr>
      </p:pic>
      <p:pic>
        <p:nvPicPr>
          <p:cNvPr id="18" name="Picture 17" descr="Curved Rectangle St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88000" y="3543500"/>
            <a:ext cx="3200000" cy="32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762000" y="1047750"/>
            <a:ext cx="12038250" cy="6477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kern="0" spc="-144" dirty="0">
                <a:solidFill>
                  <a:srgbClr val="11111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How your roles performed vs. benchmark</a:t>
            </a:r>
            <a:endParaRPr lang="en-US" sz="4800" dirty="0">
              <a:latin typeface="DM Sans 14pt" pitchFamily="2" charset="7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62000" y="1866899"/>
            <a:ext cx="8921750" cy="748118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noFill/>
            <a:prstDash val="dash"/>
          </a:ln>
        </p:spPr>
        <p:txBody>
          <a:bodyPr/>
          <a:lstStyle/>
          <a:p>
            <a:endParaRPr lang="en-GB">
              <a:latin typeface="DM Sans 14pt" pitchFamily="2" charset="7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68675" y="2302888"/>
            <a:ext cx="8708400" cy="6937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noFill/>
            <a:prstDash val="solid"/>
          </a:ln>
        </p:spPr>
        <p:txBody>
          <a:bodyPr/>
          <a:lstStyle/>
          <a:p>
            <a:r>
              <a:rPr lang="en-US" kern="0" spc="30" dirty="0">
                <a:solidFill>
                  <a:srgbClr val="240F45"/>
                </a:solidFill>
                <a:latin typeface="DM Sans 14pt" pitchFamily="2" charset="77"/>
                <a:ea typeface="monospace" pitchFamily="34" charset="-122"/>
                <a:cs typeface="monospace" pitchFamily="34" charset="-120"/>
              </a:rPr>
              <a:t>{{</a:t>
            </a:r>
            <a:r>
              <a:rPr lang="en-US" kern="0" spc="30" dirty="0" err="1">
                <a:solidFill>
                  <a:srgbClr val="240F45"/>
                </a:solidFill>
                <a:latin typeface="DM Sans 14pt" pitchFamily="2" charset="77"/>
                <a:ea typeface="monospace" pitchFamily="34" charset="-122"/>
                <a:cs typeface="monospace" pitchFamily="34" charset="-120"/>
              </a:rPr>
              <a:t>chart:benchmark_scatter</a:t>
            </a:r>
            <a:r>
              <a:rPr lang="en-US" kern="0" spc="30" dirty="0">
                <a:solidFill>
                  <a:srgbClr val="240F45"/>
                </a:solidFill>
                <a:latin typeface="DM Sans 14pt" pitchFamily="2" charset="77"/>
                <a:ea typeface="monospace" pitchFamily="34" charset="-122"/>
                <a:cs typeface="monospace" pitchFamily="34" charset="-120"/>
              </a:rPr>
              <a:t>}}</a:t>
            </a:r>
            <a:endParaRPr lang="en-US" dirty="0">
              <a:latin typeface="DM Sans 14pt" pitchFamily="2" charset="77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F7C33C0-2054-2D5C-F29F-CD13941B3BB5}"/>
              </a:ext>
            </a:extLst>
          </p:cNvPr>
          <p:cNvSpPr/>
          <p:nvPr/>
        </p:nvSpPr>
        <p:spPr>
          <a:xfrm>
            <a:off x="12995755" y="575051"/>
            <a:ext cx="4703047" cy="2808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200" kern="0" spc="42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01 · BENCHMARKING JOBS</a:t>
            </a:r>
            <a:endParaRPr lang="en-US" sz="1200" dirty="0">
              <a:latin typeface="DM Sans 14pt" pitchFamily="2" charset="7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986861" y="1866899"/>
            <a:ext cx="2721077" cy="2354400"/>
          </a:xfrm>
          <a:prstGeom prst="roundRect">
            <a:avLst/>
          </a:prstGeom>
          <a:solidFill>
            <a:srgbClr val="643791"/>
          </a:solidFill>
          <a:ln/>
        </p:spPr>
        <p:txBody>
          <a:bodyPr lIns="0" tIns="0" rIns="0" bIns="0" anchor="b"/>
          <a:lstStyle/>
          <a:p>
            <a:pPr algn="ctr"/>
            <a:r>
              <a:rPr lang="en-US" sz="1400" kern="0" spc="0" dirty="0">
                <a:solidFill>
                  <a:srgbClr val="FFFFFF">
                    <a:alpha val="85000"/>
                  </a:srgbClr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Roles benchmarked</a:t>
            </a:r>
            <a:endParaRPr lang="en-US" sz="1400" dirty="0">
              <a:latin typeface="DM Sans 14pt" pitchFamily="2" charset="7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094599" y="1978372"/>
            <a:ext cx="2505600" cy="1904400"/>
          </a:xfrm>
          <a:prstGeom prst="roundRect">
            <a:avLst>
              <a:gd name="adj" fmla="val 17778"/>
            </a:avLst>
          </a:prstGeom>
          <a:solidFill>
            <a:srgbClr val="FFFFFF">
              <a:alpha val="15000"/>
            </a:srgbClr>
          </a:solidFill>
          <a:ln/>
        </p:spPr>
        <p:txBody>
          <a:bodyPr lIns="36000" tIns="36000" rIns="36000" bIns="36000" anchor="ctr"/>
          <a:lstStyle/>
          <a:p>
            <a:pPr algn="ctr"/>
            <a:r>
              <a:rPr lang="en-GB" sz="8800" dirty="0">
                <a:solidFill>
                  <a:schemeClr val="bg1"/>
                </a:solidFill>
                <a:latin typeface="DM Sans 14pt" pitchFamily="2" charset="77"/>
              </a:rPr>
              <a:t>{{</a:t>
            </a:r>
            <a:r>
              <a:rPr lang="en-GB" sz="8800" dirty="0" err="1">
                <a:solidFill>
                  <a:schemeClr val="bg1"/>
                </a:solidFill>
                <a:latin typeface="DM Sans 14pt" pitchFamily="2" charset="77"/>
              </a:rPr>
              <a:t>stat_total_jobs</a:t>
            </a:r>
            <a:r>
              <a:rPr lang="en-GB" sz="8800" dirty="0">
                <a:solidFill>
                  <a:schemeClr val="bg1"/>
                </a:solidFill>
                <a:latin typeface="DM Sans 14pt" pitchFamily="2" charset="77"/>
              </a:rPr>
              <a:t>}}</a:t>
            </a:r>
            <a:endParaRPr lang="en-US" sz="8800" dirty="0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986861" y="6993690"/>
            <a:ext cx="2721077" cy="2354400"/>
          </a:xfrm>
          <a:prstGeom prst="roundRect">
            <a:avLst/>
          </a:prstGeom>
          <a:solidFill>
            <a:srgbClr val="643791"/>
          </a:solidFill>
          <a:ln/>
        </p:spPr>
        <p:txBody>
          <a:bodyPr lIns="0" tIns="0" rIns="0" bIns="0" anchor="b"/>
          <a:lstStyle/>
          <a:p>
            <a:pPr algn="ctr"/>
            <a:r>
              <a:rPr lang="en-US" sz="1400" kern="0" spc="0" dirty="0">
                <a:solidFill>
                  <a:srgbClr val="FFFFFF">
                    <a:alpha val="85000"/>
                  </a:srgbClr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Strongest job category</a:t>
            </a:r>
            <a:endParaRPr lang="en-US" sz="1400" dirty="0">
              <a:latin typeface="DM Sans 14pt" pitchFamily="2" charset="7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0094599" y="7088442"/>
            <a:ext cx="2505600" cy="1904400"/>
          </a:xfrm>
          <a:prstGeom prst="roundRect">
            <a:avLst>
              <a:gd name="adj" fmla="val 17778"/>
            </a:avLst>
          </a:prstGeom>
          <a:solidFill>
            <a:srgbClr val="FFFFFF">
              <a:alpha val="15000"/>
            </a:srgbClr>
          </a:solidFill>
          <a:ln/>
        </p:spPr>
        <p:txBody>
          <a:bodyPr lIns="0" rIns="0" anchor="ctr">
            <a:noAutofit/>
          </a:bodyPr>
          <a:lstStyle/>
          <a:p>
            <a:pPr algn="ctr"/>
            <a:r>
              <a:rPr lang="en-GB" sz="2800" dirty="0">
                <a:solidFill>
                  <a:schemeClr val="bg1"/>
                </a:solidFill>
                <a:latin typeface="DM Sans 14pt" pitchFamily="2" charset="77"/>
              </a:rPr>
              <a:t>{{</a:t>
            </a:r>
            <a:r>
              <a:rPr lang="en-GB" sz="2800" dirty="0" err="1">
                <a:solidFill>
                  <a:schemeClr val="bg1"/>
                </a:solidFill>
                <a:latin typeface="DM Sans 14pt" pitchFamily="2" charset="77"/>
              </a:rPr>
              <a:t>stat_top_category</a:t>
            </a:r>
            <a:r>
              <a:rPr lang="en-GB" sz="2800" dirty="0">
                <a:solidFill>
                  <a:schemeClr val="bg1"/>
                </a:solidFill>
                <a:latin typeface="DM Sans 14pt" pitchFamily="2" charset="77"/>
              </a:rPr>
              <a:t>}}</a:t>
            </a:r>
            <a:endParaRPr lang="en-US" sz="2800" kern="0" spc="-67" dirty="0">
              <a:solidFill>
                <a:schemeClr val="bg1"/>
              </a:solidFill>
              <a:latin typeface="DM Sans 14pt" pitchFamily="2" charset="77"/>
              <a:cs typeface="Arial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986861" y="4437126"/>
            <a:ext cx="2721077" cy="2354400"/>
          </a:xfrm>
          <a:prstGeom prst="roundRect">
            <a:avLst/>
          </a:prstGeom>
          <a:solidFill>
            <a:srgbClr val="E6FF6E"/>
          </a:solidFill>
          <a:ln/>
        </p:spPr>
        <p:txBody>
          <a:bodyPr lIns="0" tIns="0" rIns="0" bIns="0" anchor="b"/>
          <a:lstStyle/>
          <a:p>
            <a:pPr algn="ctr"/>
            <a:r>
              <a:rPr lang="en-US" sz="1400" kern="0" dirty="0">
                <a:solidFill>
                  <a:srgbClr val="757575">
                    <a:alpha val="85000"/>
                  </a:srgbClr>
                </a:solidFill>
                <a:latin typeface="DM Sans 14pt" pitchFamily="2" charset="77"/>
                <a:cs typeface="Arial" pitchFamily="34" charset="-120"/>
              </a:rPr>
              <a:t>In the top-right quadrant</a:t>
            </a:r>
          </a:p>
        </p:txBody>
      </p:sp>
      <p:sp>
        <p:nvSpPr>
          <p:cNvPr id="5" name="Shape 10">
            <a:extLst>
              <a:ext uri="{FF2B5EF4-FFF2-40B4-BE49-F238E27FC236}">
                <a16:creationId xmlns:a16="http://schemas.microsoft.com/office/drawing/2014/main" id="{621C128D-F2A7-22A1-C0E3-B6F2F281ACB4}"/>
              </a:ext>
            </a:extLst>
          </p:cNvPr>
          <p:cNvSpPr/>
          <p:nvPr/>
        </p:nvSpPr>
        <p:spPr>
          <a:xfrm>
            <a:off x="10094599" y="4545126"/>
            <a:ext cx="2505600" cy="1904400"/>
          </a:xfrm>
          <a:prstGeom prst="roundRect">
            <a:avLst/>
          </a:prstGeom>
          <a:solidFill>
            <a:srgbClr val="F1F3E2"/>
          </a:solidFill>
          <a:ln/>
        </p:spPr>
        <p:txBody>
          <a:bodyPr lIns="36000" tIns="36000" rIns="36000" bIns="36000" anchor="ctr"/>
          <a:lstStyle/>
          <a:p>
            <a:pPr algn="ctr"/>
            <a:r>
              <a:rPr lang="en-GB" sz="8800" dirty="0">
                <a:solidFill>
                  <a:srgbClr val="643791"/>
                </a:solidFill>
                <a:latin typeface="DM Sans 14pt" pitchFamily="2" charset="77"/>
              </a:rPr>
              <a:t>{{</a:t>
            </a:r>
            <a:r>
              <a:rPr lang="en-GB" sz="8800" dirty="0" err="1">
                <a:solidFill>
                  <a:srgbClr val="643791"/>
                </a:solidFill>
                <a:latin typeface="DM Sans 14pt" pitchFamily="2" charset="77"/>
              </a:rPr>
              <a:t>stat_top_quadrant_pct</a:t>
            </a:r>
            <a:r>
              <a:rPr lang="en-GB" sz="8800" dirty="0">
                <a:solidFill>
                  <a:srgbClr val="643791"/>
                </a:solidFill>
                <a:latin typeface="DM Sans 14pt" pitchFamily="2" charset="77"/>
              </a:rPr>
              <a:t>}}</a:t>
            </a:r>
            <a:endParaRPr lang="en-US" sz="8800" dirty="0">
              <a:solidFill>
                <a:srgbClr val="643791"/>
              </a:solidFill>
              <a:latin typeface="DM Sans 14pt" pitchFamily="2" charset="77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A9494F-52A5-D760-AE5B-C1AAE512CD77}"/>
              </a:ext>
            </a:extLst>
          </p:cNvPr>
          <p:cNvSpPr/>
          <p:nvPr/>
        </p:nvSpPr>
        <p:spPr>
          <a:xfrm>
            <a:off x="762001" y="1866899"/>
            <a:ext cx="8921750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kern="0" spc="84" dirty="0">
                <a:solidFill>
                  <a:srgbClr val="111111">
                    <a:alpha val="63000"/>
                  </a:srgbClr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Views vs. apply clicks, % above/below benchmark</a:t>
            </a:r>
            <a:endParaRPr lang="en-US" dirty="0">
              <a:latin typeface="DM Sans 14pt" pitchFamily="2" charset="77"/>
            </a:endParaRPr>
          </a:p>
        </p:txBody>
      </p:sp>
      <p:sp>
        <p:nvSpPr>
          <p:cNvPr id="14" name="Shape 28">
            <a:extLst>
              <a:ext uri="{FF2B5EF4-FFF2-40B4-BE49-F238E27FC236}">
                <a16:creationId xmlns:a16="http://schemas.microsoft.com/office/drawing/2014/main" id="{190CFC65-FAEB-0611-CE95-6555ED005839}"/>
              </a:ext>
            </a:extLst>
          </p:cNvPr>
          <p:cNvSpPr/>
          <p:nvPr/>
        </p:nvSpPr>
        <p:spPr>
          <a:xfrm>
            <a:off x="12995755" y="1866899"/>
            <a:ext cx="4701600" cy="1188000"/>
          </a:xfrm>
          <a:prstGeom prst="roundRect">
            <a:avLst>
              <a:gd name="adj" fmla="val 6000"/>
            </a:avLst>
          </a:prstGeom>
          <a:solidFill>
            <a:srgbClr val="643791">
              <a:alpha val="8000"/>
            </a:srgbClr>
          </a:solidFill>
          <a:ln/>
        </p:spPr>
        <p:txBody>
          <a:bodyPr/>
          <a:lstStyle/>
          <a:p>
            <a:r>
              <a:rPr lang="en-GB" sz="1400" dirty="0">
                <a:solidFill>
                  <a:srgbClr val="643791"/>
                </a:solidFill>
                <a:latin typeface="DM Sans 14pt" pitchFamily="2" charset="77"/>
              </a:rPr>
              <a:t>{{</a:t>
            </a:r>
            <a:r>
              <a:rPr lang="en-GB" sz="1400" dirty="0" err="1">
                <a:solidFill>
                  <a:srgbClr val="643791"/>
                </a:solidFill>
                <a:latin typeface="DM Sans 14pt" pitchFamily="2" charset="77"/>
              </a:rPr>
              <a:t>chart_explainer_benchmark_scatter</a:t>
            </a:r>
            <a:r>
              <a:rPr lang="en-GB" sz="1400" dirty="0">
                <a:solidFill>
                  <a:srgbClr val="643791"/>
                </a:solidFill>
                <a:latin typeface="DM Sans 14pt" pitchFamily="2" charset="77"/>
              </a:rPr>
              <a:t>}}</a:t>
            </a:r>
            <a:endParaRPr lang="en-US" sz="1400" dirty="0">
              <a:solidFill>
                <a:srgbClr val="643791"/>
              </a:solidFill>
              <a:latin typeface="DM Sans 14pt" pitchFamily="2" charset="77"/>
            </a:endParaRPr>
          </a:p>
        </p:txBody>
      </p:sp>
      <p:sp>
        <p:nvSpPr>
          <p:cNvPr id="15" name="Text 27">
            <a:extLst>
              <a:ext uri="{FF2B5EF4-FFF2-40B4-BE49-F238E27FC236}">
                <a16:creationId xmlns:a16="http://schemas.microsoft.com/office/drawing/2014/main" id="{6C5F6419-482C-4205-169A-EF192C99949B}"/>
              </a:ext>
            </a:extLst>
          </p:cNvPr>
          <p:cNvSpPr/>
          <p:nvPr/>
        </p:nvSpPr>
        <p:spPr>
          <a:xfrm>
            <a:off x="12995755" y="3259384"/>
            <a:ext cx="4701600" cy="488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Commentary</a:t>
            </a:r>
            <a:endParaRPr lang="en-US" sz="2400" b="1" dirty="0">
              <a:latin typeface="DM Sans 14pt" pitchFamily="2" charset="77"/>
            </a:endParaRPr>
          </a:p>
        </p:txBody>
      </p:sp>
      <p:sp>
        <p:nvSpPr>
          <p:cNvPr id="16" name="Shape 28">
            <a:extLst>
              <a:ext uri="{FF2B5EF4-FFF2-40B4-BE49-F238E27FC236}">
                <a16:creationId xmlns:a16="http://schemas.microsoft.com/office/drawing/2014/main" id="{ABAA4934-FD5B-4DC4-85E5-5BBF5C9FCC4C}"/>
              </a:ext>
            </a:extLst>
          </p:cNvPr>
          <p:cNvSpPr/>
          <p:nvPr/>
        </p:nvSpPr>
        <p:spPr>
          <a:xfrm>
            <a:off x="12995755" y="3748249"/>
            <a:ext cx="4701600" cy="5599841"/>
          </a:xfrm>
          <a:prstGeom prst="roundRect">
            <a:avLst>
              <a:gd name="adj" fmla="val 3000"/>
            </a:avLst>
          </a:prstGeom>
          <a:solidFill>
            <a:srgbClr val="643791">
              <a:alpha val="8000"/>
            </a:srgbClr>
          </a:solidFill>
          <a:ln/>
        </p:spPr>
        <p:txBody>
          <a:bodyPr/>
          <a:lstStyle/>
          <a:p>
            <a:r>
              <a:rPr lang="en-US" sz="140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{{</a:t>
            </a:r>
            <a:r>
              <a:rPr lang="en-US" sz="1400" dirty="0" err="1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commentary_benchmark_intro</a:t>
            </a:r>
            <a:r>
              <a:rPr lang="en-US" sz="140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}}</a:t>
            </a:r>
          </a:p>
          <a:p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r>
              <a:rPr lang="en-US" sz="140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{{commentary_benchmark_point_1}}</a:t>
            </a:r>
            <a:endParaRPr lang="en-US" sz="1400" dirty="0">
              <a:latin typeface="DM Sans 14pt" pitchFamily="2" charset="77"/>
            </a:endParaRPr>
          </a:p>
          <a:p>
            <a:endParaRPr lang="en-US" sz="1400" dirty="0">
              <a:latin typeface="DM Sans 14pt" pitchFamily="2" charset="77"/>
            </a:endParaRPr>
          </a:p>
          <a:p>
            <a:r>
              <a:rPr lang="en-US" sz="140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{{commentary_benchmark_point_2}}</a:t>
            </a:r>
            <a:endParaRPr lang="en-US" sz="1400" dirty="0">
              <a:latin typeface="DM Sans 14pt" pitchFamily="2" charset="77"/>
            </a:endParaRPr>
          </a:p>
          <a:p>
            <a:endParaRPr lang="en-US" sz="1400" dirty="0">
              <a:latin typeface="DM Sans 14pt" pitchFamily="2" charset="77"/>
            </a:endParaRPr>
          </a:p>
          <a:p>
            <a:r>
              <a:rPr lang="en-US" sz="140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{{commentary_benchmark_point_3}}</a:t>
            </a:r>
            <a:endParaRPr lang="en-US" sz="1400" dirty="0">
              <a:latin typeface="DM Sans 14pt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4A4577-4C53-6705-4B68-F996B9EE6A95}"/>
              </a:ext>
            </a:extLst>
          </p:cNvPr>
          <p:cNvSpPr txBox="1"/>
          <p:nvPr/>
        </p:nvSpPr>
        <p:spPr>
          <a:xfrm>
            <a:off x="609600" y="9742289"/>
            <a:ext cx="230031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dirty="0">
                <a:solidFill>
                  <a:srgbClr val="643791"/>
                </a:solidFill>
                <a:latin typeface="DM Sans 14pt" pitchFamily="2" charset="77"/>
              </a:rPr>
              <a:t>Jobs Go Public  ·  Go places. Go public.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8BB8BA-CA79-BE3F-E126-94F404A4BA4B}"/>
              </a:ext>
            </a:extLst>
          </p:cNvPr>
          <p:cNvSpPr txBox="1"/>
          <p:nvPr/>
        </p:nvSpPr>
        <p:spPr>
          <a:xfrm>
            <a:off x="15604114" y="9742289"/>
            <a:ext cx="2074286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{{</a:t>
            </a:r>
            <a:r>
              <a:rPr sz="1000" dirty="0" err="1">
                <a:solidFill>
                  <a:srgbClr val="5B5067"/>
                </a:solidFill>
                <a:latin typeface="DM Sans 14pt" pitchFamily="2" charset="77"/>
              </a:rPr>
              <a:t>slide_number</a:t>
            </a:r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}} / {{</a:t>
            </a:r>
            <a:r>
              <a:rPr sz="1000" dirty="0" err="1">
                <a:solidFill>
                  <a:srgbClr val="5B5067"/>
                </a:solidFill>
                <a:latin typeface="DM Sans 14pt" pitchFamily="2" charset="77"/>
              </a:rPr>
              <a:t>total_slides</a:t>
            </a:r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}}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FEB395B0-F86D-3691-236F-39E8C0919C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526" y="636516"/>
            <a:ext cx="1411947" cy="2667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3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762000" y="1047750"/>
            <a:ext cx="8104446" cy="6477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kern="0" spc="-144" dirty="0">
                <a:solidFill>
                  <a:srgbClr val="11111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Your average vs. the market</a:t>
            </a:r>
            <a:endParaRPr lang="en-US" sz="4800" dirty="0">
              <a:latin typeface="DM Sans 14pt" pitchFamily="2" charset="7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62000" y="1866900"/>
            <a:ext cx="8921751" cy="7481190"/>
          </a:xfrm>
          <a:prstGeom prst="roundRect">
            <a:avLst>
              <a:gd name="adj" fmla="val 0"/>
            </a:avLst>
          </a:prstGeom>
          <a:noFill/>
          <a:ln w="19050">
            <a:noFill/>
            <a:prstDash val="dash"/>
          </a:ln>
        </p:spPr>
        <p:txBody>
          <a:bodyPr/>
          <a:lstStyle/>
          <a:p>
            <a:endParaRPr lang="en-GB" dirty="0">
              <a:latin typeface="DM Sans 14pt" pitchFamily="2" charset="7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72369" y="2298900"/>
            <a:ext cx="8704706" cy="6943885"/>
          </a:xfrm>
          <a:prstGeom prst="roundRect">
            <a:avLst>
              <a:gd name="adj" fmla="val 0"/>
            </a:avLst>
          </a:prstGeom>
          <a:noFill/>
          <a:ln w="9525">
            <a:noFill/>
            <a:prstDash val="solid"/>
          </a:ln>
        </p:spPr>
        <p:txBody>
          <a:bodyPr/>
          <a:lstStyle/>
          <a:p>
            <a:r>
              <a:rPr lang="en-US" dirty="0">
                <a:latin typeface="DM Sans 14pt" pitchFamily="2" charset="77"/>
              </a:rPr>
              <a:t>{{</a:t>
            </a:r>
            <a:r>
              <a:rPr lang="en-US" dirty="0" err="1">
                <a:latin typeface="DM Sans 14pt" pitchFamily="2" charset="77"/>
              </a:rPr>
              <a:t>chart:benchmark_average</a:t>
            </a:r>
            <a:r>
              <a:rPr lang="en-US" dirty="0">
                <a:latin typeface="DM Sans 14pt" pitchFamily="2" charset="77"/>
              </a:rPr>
              <a:t>}}</a:t>
            </a:r>
          </a:p>
        </p:txBody>
      </p:sp>
      <p:sp>
        <p:nvSpPr>
          <p:cNvPr id="67" name="Text 3">
            <a:extLst>
              <a:ext uri="{FF2B5EF4-FFF2-40B4-BE49-F238E27FC236}">
                <a16:creationId xmlns:a16="http://schemas.microsoft.com/office/drawing/2014/main" id="{06DB073C-0DC3-299A-5EB3-6CFA66DF2747}"/>
              </a:ext>
            </a:extLst>
          </p:cNvPr>
          <p:cNvSpPr/>
          <p:nvPr/>
        </p:nvSpPr>
        <p:spPr>
          <a:xfrm>
            <a:off x="12995755" y="575051"/>
            <a:ext cx="4703047" cy="2808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algn="r"/>
            <a:r>
              <a:rPr lang="en-US" sz="1200" kern="0" spc="42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02 · AVERAGE PERFORMANCE</a:t>
            </a:r>
            <a:endParaRPr lang="en-US" sz="1200" dirty="0">
              <a:latin typeface="DM Sans 14pt" pitchFamily="2" charset="77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97EA86C-CA48-161C-4318-F999C296E479}"/>
              </a:ext>
            </a:extLst>
          </p:cNvPr>
          <p:cNvSpPr/>
          <p:nvPr/>
        </p:nvSpPr>
        <p:spPr>
          <a:xfrm>
            <a:off x="761999" y="1866900"/>
            <a:ext cx="8921751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kern="0" spc="84" dirty="0">
                <a:solidFill>
                  <a:srgbClr val="111111">
                    <a:alpha val="63000"/>
                  </a:srgbClr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Views per vacancy · Apply clicks per vacancy</a:t>
            </a:r>
            <a:endParaRPr lang="en-US" dirty="0">
              <a:latin typeface="DM Sans 14pt" pitchFamily="2" charset="77"/>
            </a:endParaRPr>
          </a:p>
        </p:txBody>
      </p:sp>
      <p:sp>
        <p:nvSpPr>
          <p:cNvPr id="10" name="Shape 28">
            <a:extLst>
              <a:ext uri="{FF2B5EF4-FFF2-40B4-BE49-F238E27FC236}">
                <a16:creationId xmlns:a16="http://schemas.microsoft.com/office/drawing/2014/main" id="{46C71CB8-D020-C358-506A-1F59E56F780C}"/>
              </a:ext>
            </a:extLst>
          </p:cNvPr>
          <p:cNvSpPr/>
          <p:nvPr/>
        </p:nvSpPr>
        <p:spPr>
          <a:xfrm>
            <a:off x="12995755" y="1866900"/>
            <a:ext cx="4701600" cy="1188000"/>
          </a:xfrm>
          <a:prstGeom prst="roundRect">
            <a:avLst>
              <a:gd name="adj" fmla="val 6000"/>
            </a:avLst>
          </a:prstGeom>
          <a:solidFill>
            <a:srgbClr val="643791">
              <a:alpha val="8000"/>
            </a:srgbClr>
          </a:solidFill>
          <a:ln/>
        </p:spPr>
        <p:txBody>
          <a:bodyPr/>
          <a:lstStyle/>
          <a:p>
            <a:r>
              <a:rPr lang="en-GB" sz="1400" dirty="0">
                <a:solidFill>
                  <a:srgbClr val="643791"/>
                </a:solidFill>
                <a:latin typeface="DM Sans 14pt" pitchFamily="2" charset="77"/>
              </a:rPr>
              <a:t>{{</a:t>
            </a:r>
            <a:r>
              <a:rPr lang="en-GB" sz="1400" dirty="0" err="1">
                <a:solidFill>
                  <a:srgbClr val="643791"/>
                </a:solidFill>
                <a:latin typeface="DM Sans 14pt" pitchFamily="2" charset="77"/>
              </a:rPr>
              <a:t>chart_explainer_benchmark_average</a:t>
            </a:r>
            <a:r>
              <a:rPr lang="en-GB" sz="1400" dirty="0">
                <a:solidFill>
                  <a:srgbClr val="643791"/>
                </a:solidFill>
                <a:latin typeface="DM Sans 14pt" pitchFamily="2" charset="77"/>
              </a:rPr>
              <a:t>}}</a:t>
            </a:r>
            <a:endParaRPr lang="en-US" sz="1400" dirty="0">
              <a:solidFill>
                <a:srgbClr val="643791"/>
              </a:solidFill>
              <a:latin typeface="DM Sans 14pt" pitchFamily="2" charset="77"/>
            </a:endParaRPr>
          </a:p>
        </p:txBody>
      </p:sp>
      <p:sp>
        <p:nvSpPr>
          <p:cNvPr id="11" name="Text 27">
            <a:extLst>
              <a:ext uri="{FF2B5EF4-FFF2-40B4-BE49-F238E27FC236}">
                <a16:creationId xmlns:a16="http://schemas.microsoft.com/office/drawing/2014/main" id="{2D240F46-20B1-8FE8-EA8B-D2F4A1B5AB24}"/>
              </a:ext>
            </a:extLst>
          </p:cNvPr>
          <p:cNvSpPr/>
          <p:nvPr/>
        </p:nvSpPr>
        <p:spPr>
          <a:xfrm>
            <a:off x="12995755" y="3259384"/>
            <a:ext cx="4701600" cy="488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Commentary</a:t>
            </a:r>
            <a:endParaRPr lang="en-US" sz="2400" b="1" dirty="0">
              <a:latin typeface="DM Sans 14pt" pitchFamily="2" charset="77"/>
            </a:endParaRPr>
          </a:p>
        </p:txBody>
      </p:sp>
      <p:sp>
        <p:nvSpPr>
          <p:cNvPr id="12" name="Shape 28">
            <a:extLst>
              <a:ext uri="{FF2B5EF4-FFF2-40B4-BE49-F238E27FC236}">
                <a16:creationId xmlns:a16="http://schemas.microsoft.com/office/drawing/2014/main" id="{6D2B688A-D648-8DE9-4BF5-D04A62A5A6D9}"/>
              </a:ext>
            </a:extLst>
          </p:cNvPr>
          <p:cNvSpPr/>
          <p:nvPr/>
        </p:nvSpPr>
        <p:spPr>
          <a:xfrm>
            <a:off x="12995755" y="3748249"/>
            <a:ext cx="4701600" cy="5599841"/>
          </a:xfrm>
          <a:prstGeom prst="roundRect">
            <a:avLst>
              <a:gd name="adj" fmla="val 3000"/>
            </a:avLst>
          </a:prstGeom>
          <a:solidFill>
            <a:srgbClr val="643791">
              <a:alpha val="8000"/>
            </a:srgbClr>
          </a:solidFill>
          <a:ln/>
        </p:spPr>
        <p:txBody>
          <a:bodyPr/>
          <a:lstStyle/>
          <a:p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</a:t>
            </a:r>
            <a:r>
              <a:rPr lang="en-US" sz="1400" dirty="0" err="1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commentary_average</a:t>
            </a:r>
            <a:r>
              <a:rPr lang="en-US" sz="1400" err="1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_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intro}}</a:t>
            </a:r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{{commentary_average_point_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1}}</a:t>
            </a:r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{{commentary_average_point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_2</a:t>
            </a:r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}}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5604114" y="9742289"/>
            <a:ext cx="2074286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{{</a:t>
            </a:r>
            <a:r>
              <a:rPr sz="1000" dirty="0" err="1">
                <a:solidFill>
                  <a:srgbClr val="5B5067"/>
                </a:solidFill>
                <a:latin typeface="DM Sans 14pt" pitchFamily="2" charset="77"/>
              </a:rPr>
              <a:t>slide_number</a:t>
            </a:r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}} / {{</a:t>
            </a:r>
            <a:r>
              <a:rPr sz="1000" dirty="0" err="1">
                <a:solidFill>
                  <a:srgbClr val="5B5067"/>
                </a:solidFill>
                <a:latin typeface="DM Sans 14pt" pitchFamily="2" charset="77"/>
              </a:rPr>
              <a:t>total_slides</a:t>
            </a:r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}}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D26A05-56B1-1E40-4C20-7797AFF371B3}"/>
              </a:ext>
            </a:extLst>
          </p:cNvPr>
          <p:cNvSpPr txBox="1"/>
          <p:nvPr/>
        </p:nvSpPr>
        <p:spPr>
          <a:xfrm>
            <a:off x="609600" y="9742289"/>
            <a:ext cx="230031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dirty="0">
                <a:solidFill>
                  <a:srgbClr val="643791"/>
                </a:solidFill>
                <a:latin typeface="DM Sans 14pt" pitchFamily="2" charset="77"/>
              </a:rPr>
              <a:t>Jobs Go Public  ·  Go place</a:t>
            </a:r>
            <a:r>
              <a:rPr lang="en-GB" sz="1000" dirty="0">
                <a:solidFill>
                  <a:srgbClr val="643791"/>
                </a:solidFill>
                <a:latin typeface="DM Sans 14pt" pitchFamily="2" charset="77"/>
              </a:rPr>
              <a:t>s</a:t>
            </a:r>
            <a:r>
              <a:rPr sz="1000" dirty="0">
                <a:solidFill>
                  <a:srgbClr val="643791"/>
                </a:solidFill>
                <a:latin typeface="DM Sans 14pt" pitchFamily="2" charset="77"/>
              </a:rPr>
              <a:t>. Go public.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7367A59-E4C0-6E79-392B-EA18397EE9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526" y="636516"/>
            <a:ext cx="1411947" cy="266701"/>
          </a:xfrm>
          <a:prstGeom prst="rect">
            <a:avLst/>
          </a:prstGeom>
        </p:spPr>
      </p:pic>
      <p:sp>
        <p:nvSpPr>
          <p:cNvPr id="14" name="Shape 6">
            <a:extLst>
              <a:ext uri="{FF2B5EF4-FFF2-40B4-BE49-F238E27FC236}">
                <a16:creationId xmlns:a16="http://schemas.microsoft.com/office/drawing/2014/main" id="{9FA43DA0-B414-38F1-4CE9-6D661B993C8B}"/>
              </a:ext>
            </a:extLst>
          </p:cNvPr>
          <p:cNvSpPr/>
          <p:nvPr/>
        </p:nvSpPr>
        <p:spPr>
          <a:xfrm>
            <a:off x="9986861" y="1866899"/>
            <a:ext cx="2721077" cy="1754747"/>
          </a:xfrm>
          <a:prstGeom prst="roundRect">
            <a:avLst/>
          </a:prstGeom>
          <a:solidFill>
            <a:srgbClr val="643791"/>
          </a:solidFill>
          <a:ln/>
        </p:spPr>
        <p:txBody>
          <a:bodyPr lIns="0" tIns="0" rIns="0" bIns="0" anchor="b"/>
          <a:lstStyle/>
          <a:p>
            <a:pPr algn="ctr"/>
            <a:r>
              <a:rPr lang="en-US" sz="1400" kern="0" dirty="0">
                <a:solidFill>
                  <a:srgbClr val="FFFFFF">
                    <a:alpha val="85000"/>
                  </a:srgbClr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Benchmark –  Average views</a:t>
            </a:r>
            <a:endParaRPr lang="en-US" sz="1400" dirty="0">
              <a:latin typeface="DM Sans 14pt" pitchFamily="2" charset="77"/>
            </a:endParaRPr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A8CF4D16-A6FF-2367-2401-031747E1F13F}"/>
              </a:ext>
            </a:extLst>
          </p:cNvPr>
          <p:cNvSpPr/>
          <p:nvPr/>
        </p:nvSpPr>
        <p:spPr>
          <a:xfrm>
            <a:off x="9986861" y="5684528"/>
            <a:ext cx="2721077" cy="1754747"/>
          </a:xfrm>
          <a:prstGeom prst="roundRect">
            <a:avLst/>
          </a:prstGeom>
          <a:solidFill>
            <a:srgbClr val="643791"/>
          </a:solidFill>
          <a:ln/>
        </p:spPr>
        <p:txBody>
          <a:bodyPr lIns="0" tIns="0" rIns="0" bIns="0" anchor="b"/>
          <a:lstStyle/>
          <a:p>
            <a:pPr algn="r"/>
            <a:r>
              <a:rPr lang="en-US" sz="1400" kern="0" dirty="0">
                <a:solidFill>
                  <a:srgbClr val="FFFFFF">
                    <a:alpha val="85000"/>
                  </a:srgbClr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Benchmark –  Average applies</a:t>
            </a:r>
            <a:endParaRPr lang="en-US" sz="1400" dirty="0">
              <a:latin typeface="DM Sans 14pt" pitchFamily="2" charset="77"/>
            </a:endParaRPr>
          </a:p>
        </p:txBody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46A9BEAE-E101-E098-3FB1-BA3AC018BF46}"/>
              </a:ext>
            </a:extLst>
          </p:cNvPr>
          <p:cNvSpPr/>
          <p:nvPr/>
        </p:nvSpPr>
        <p:spPr>
          <a:xfrm>
            <a:off x="10094599" y="5755147"/>
            <a:ext cx="2505600" cy="1309404"/>
          </a:xfrm>
          <a:prstGeom prst="roundRect">
            <a:avLst>
              <a:gd name="adj" fmla="val 17778"/>
            </a:avLst>
          </a:prstGeom>
          <a:solidFill>
            <a:srgbClr val="FFFFFF">
              <a:alpha val="15000"/>
            </a:srgbClr>
          </a:solidFill>
          <a:ln/>
        </p:spPr>
        <p:txBody>
          <a:bodyPr lIns="36000" tIns="36000" rIns="36000" bIns="36000" anchor="ctr"/>
          <a:lstStyle/>
          <a:p>
            <a:pPr algn="ctr"/>
            <a:r>
              <a:rPr lang="en-GB" sz="8800" dirty="0">
                <a:solidFill>
                  <a:schemeClr val="bg1"/>
                </a:solidFill>
                <a:latin typeface="DM Sans 14pt" pitchFamily="2" charset="77"/>
              </a:rPr>
              <a:t>{{</a:t>
            </a:r>
            <a:r>
              <a:rPr lang="en-GB" sz="8800" dirty="0" err="1">
                <a:solidFill>
                  <a:schemeClr val="bg1"/>
                </a:solidFill>
                <a:latin typeface="DM Sans 14pt" pitchFamily="2" charset="77"/>
              </a:rPr>
              <a:t>stat_benchmark_average_applies</a:t>
            </a:r>
            <a:r>
              <a:rPr lang="en-GB" sz="8800" dirty="0">
                <a:solidFill>
                  <a:schemeClr val="bg1"/>
                </a:solidFill>
                <a:latin typeface="DM Sans 14pt" pitchFamily="2" charset="77"/>
              </a:rPr>
              <a:t>}}</a:t>
            </a:r>
            <a:endParaRPr lang="en-US" sz="8800" dirty="0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76F76170-6850-6C9D-2D95-EA0FEBBFF531}"/>
              </a:ext>
            </a:extLst>
          </p:cNvPr>
          <p:cNvSpPr/>
          <p:nvPr/>
        </p:nvSpPr>
        <p:spPr>
          <a:xfrm>
            <a:off x="9986861" y="3775714"/>
            <a:ext cx="2721077" cy="1754747"/>
          </a:xfrm>
          <a:prstGeom prst="roundRect">
            <a:avLst/>
          </a:prstGeom>
          <a:solidFill>
            <a:srgbClr val="E6FF6E"/>
          </a:solidFill>
          <a:ln/>
        </p:spPr>
        <p:txBody>
          <a:bodyPr lIns="0" tIns="0" rIns="0" bIns="0" anchor="b"/>
          <a:lstStyle/>
          <a:p>
            <a:pPr algn="ctr"/>
            <a:r>
              <a:rPr lang="en-US" sz="1400" kern="0" dirty="0">
                <a:solidFill>
                  <a:srgbClr val="757575">
                    <a:alpha val="85000"/>
                  </a:srgbClr>
                </a:solidFill>
                <a:latin typeface="DM Sans 14pt" pitchFamily="2" charset="77"/>
                <a:cs typeface="Arial" pitchFamily="34" charset="-120"/>
              </a:rPr>
              <a:t>Your jobs – Average views</a:t>
            </a:r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619E8967-3D8D-E917-506B-3929DBD035E4}"/>
              </a:ext>
            </a:extLst>
          </p:cNvPr>
          <p:cNvSpPr/>
          <p:nvPr/>
        </p:nvSpPr>
        <p:spPr>
          <a:xfrm>
            <a:off x="10094599" y="3856207"/>
            <a:ext cx="2505600" cy="1309404"/>
          </a:xfrm>
          <a:prstGeom prst="roundRect">
            <a:avLst/>
          </a:prstGeom>
          <a:solidFill>
            <a:srgbClr val="F1F3E2"/>
          </a:solidFill>
          <a:ln/>
        </p:spPr>
        <p:txBody>
          <a:bodyPr lIns="36000" tIns="36000" rIns="36000" bIns="36000" anchor="ctr"/>
          <a:lstStyle/>
          <a:p>
            <a:pPr algn="ctr">
              <a:lnSpc>
                <a:spcPct val="110000"/>
              </a:lnSpc>
            </a:pPr>
            <a:r>
              <a:rPr lang="en-GB" sz="8800" dirty="0">
                <a:solidFill>
                  <a:srgbClr val="757575"/>
                </a:solidFill>
                <a:latin typeface="DM Sans 14pt" pitchFamily="2" charset="77"/>
              </a:rPr>
              <a:t>{{</a:t>
            </a:r>
            <a:r>
              <a:rPr lang="en-GB" sz="8800" dirty="0" err="1">
                <a:solidFill>
                  <a:srgbClr val="757575"/>
                </a:solidFill>
                <a:latin typeface="DM Sans 14pt" pitchFamily="2" charset="77"/>
              </a:rPr>
              <a:t>stat_your_jobs_average_views</a:t>
            </a:r>
            <a:r>
              <a:rPr lang="en-GB" sz="8800" dirty="0">
                <a:solidFill>
                  <a:srgbClr val="757575"/>
                </a:solidFill>
                <a:latin typeface="DM Sans 14pt" pitchFamily="2" charset="77"/>
              </a:rPr>
              <a:t>}}</a:t>
            </a:r>
            <a:endParaRPr lang="en-US" sz="8800" dirty="0">
              <a:solidFill>
                <a:srgbClr val="757575"/>
              </a:solidFill>
              <a:latin typeface="DM Sans 14pt" pitchFamily="2" charset="77"/>
            </a:endParaRPr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5F67A4E1-7BA0-7EDD-FBC8-2B43BB687619}"/>
              </a:ext>
            </a:extLst>
          </p:cNvPr>
          <p:cNvSpPr/>
          <p:nvPr/>
        </p:nvSpPr>
        <p:spPr>
          <a:xfrm>
            <a:off x="9986861" y="7593343"/>
            <a:ext cx="2721077" cy="1754747"/>
          </a:xfrm>
          <a:prstGeom prst="roundRect">
            <a:avLst/>
          </a:prstGeom>
          <a:solidFill>
            <a:srgbClr val="E6FF6E"/>
          </a:solidFill>
          <a:ln/>
        </p:spPr>
        <p:txBody>
          <a:bodyPr lIns="0" tIns="0" rIns="0" bIns="0" anchor="b"/>
          <a:lstStyle/>
          <a:p>
            <a:pPr algn="ctr"/>
            <a:r>
              <a:rPr lang="en-US" sz="1400" kern="0" dirty="0">
                <a:solidFill>
                  <a:srgbClr val="757575">
                    <a:alpha val="85000"/>
                  </a:srgbClr>
                </a:solidFill>
                <a:latin typeface="DM Sans 14pt" pitchFamily="2" charset="77"/>
                <a:cs typeface="Arial" pitchFamily="34" charset="-120"/>
              </a:rPr>
              <a:t>Your jobs </a:t>
            </a:r>
            <a:r>
              <a:rPr lang="en-US" sz="1400" kern="0">
                <a:solidFill>
                  <a:srgbClr val="757575">
                    <a:alpha val="85000"/>
                  </a:srgbClr>
                </a:solidFill>
                <a:latin typeface="DM Sans 14pt" pitchFamily="2" charset="77"/>
                <a:cs typeface="Arial" pitchFamily="34" charset="-120"/>
              </a:rPr>
              <a:t>– Average applies</a:t>
            </a:r>
            <a:endParaRPr lang="en-US" sz="1400" kern="0" dirty="0">
              <a:solidFill>
                <a:srgbClr val="757575">
                  <a:alpha val="85000"/>
                </a:srgbClr>
              </a:solidFill>
              <a:latin typeface="DM Sans 14pt" pitchFamily="2" charset="77"/>
              <a:cs typeface="Arial" pitchFamily="34" charset="-120"/>
            </a:endParaRP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47CA4C39-A2E0-9A7D-97DB-BEB99AD1C4ED}"/>
              </a:ext>
            </a:extLst>
          </p:cNvPr>
          <p:cNvSpPr/>
          <p:nvPr/>
        </p:nvSpPr>
        <p:spPr>
          <a:xfrm>
            <a:off x="10094599" y="7663962"/>
            <a:ext cx="2505600" cy="1309404"/>
          </a:xfrm>
          <a:prstGeom prst="roundRect">
            <a:avLst>
              <a:gd name="adj" fmla="val 17778"/>
            </a:avLst>
          </a:prstGeom>
          <a:solidFill>
            <a:srgbClr val="F1F3E2"/>
          </a:solidFill>
          <a:ln/>
        </p:spPr>
        <p:txBody>
          <a:bodyPr lIns="36000" tIns="36000" rIns="36000" bIns="36000" anchor="ctr"/>
          <a:lstStyle/>
          <a:p>
            <a:pPr algn="ctr"/>
            <a:r>
              <a:rPr lang="en-GB" sz="8800" dirty="0">
                <a:solidFill>
                  <a:srgbClr val="757575"/>
                </a:solidFill>
                <a:latin typeface="DM Sans 14pt" pitchFamily="2" charset="77"/>
              </a:rPr>
              <a:t>{{</a:t>
            </a:r>
            <a:r>
              <a:rPr lang="en-GB" sz="8800" dirty="0" err="1">
                <a:solidFill>
                  <a:srgbClr val="757575"/>
                </a:solidFill>
                <a:latin typeface="DM Sans 14pt" pitchFamily="2" charset="77"/>
              </a:rPr>
              <a:t>stat_your_jobs_average_applies</a:t>
            </a:r>
            <a:r>
              <a:rPr lang="en-GB" sz="8800" dirty="0">
                <a:solidFill>
                  <a:srgbClr val="757575"/>
                </a:solidFill>
                <a:latin typeface="DM Sans 14pt" pitchFamily="2" charset="77"/>
              </a:rPr>
              <a:t>}}</a:t>
            </a:r>
            <a:endParaRPr lang="en-US" sz="8800" dirty="0">
              <a:solidFill>
                <a:srgbClr val="757575"/>
              </a:solidFill>
              <a:latin typeface="DM Sans 14pt" pitchFamily="2" charset="77"/>
            </a:endParaRPr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A5E010EB-9A37-DA51-17F0-40372B658C15}"/>
              </a:ext>
            </a:extLst>
          </p:cNvPr>
          <p:cNvSpPr/>
          <p:nvPr/>
        </p:nvSpPr>
        <p:spPr>
          <a:xfrm>
            <a:off x="10094599" y="1949980"/>
            <a:ext cx="2505600" cy="1309404"/>
          </a:xfrm>
          <a:prstGeom prst="roundRect">
            <a:avLst>
              <a:gd name="adj" fmla="val 17778"/>
            </a:avLst>
          </a:prstGeom>
          <a:solidFill>
            <a:srgbClr val="FFFFFF">
              <a:alpha val="15000"/>
            </a:srgbClr>
          </a:solidFill>
          <a:ln/>
        </p:spPr>
        <p:txBody>
          <a:bodyPr lIns="36000" tIns="36000" rIns="36000" bIns="36000" anchor="ctr"/>
          <a:lstStyle/>
          <a:p>
            <a:pPr algn="ctr"/>
            <a:r>
              <a:rPr lang="en-GB" sz="8800" dirty="0">
                <a:solidFill>
                  <a:schemeClr val="bg1"/>
                </a:solidFill>
                <a:latin typeface="DM Sans 14pt" pitchFamily="2" charset="77"/>
              </a:rPr>
              <a:t>{{</a:t>
            </a:r>
            <a:r>
              <a:rPr lang="en-GB" sz="8800" dirty="0" err="1">
                <a:solidFill>
                  <a:schemeClr val="bg1"/>
                </a:solidFill>
                <a:latin typeface="DM Sans 14pt" pitchFamily="2" charset="77"/>
              </a:rPr>
              <a:t>stat_benchmark_average_views</a:t>
            </a:r>
            <a:r>
              <a:rPr lang="en-GB" sz="8800" dirty="0">
                <a:solidFill>
                  <a:schemeClr val="bg1"/>
                </a:solidFill>
                <a:latin typeface="DM Sans 14pt" pitchFamily="2" charset="77"/>
              </a:rPr>
              <a:t>}}</a:t>
            </a:r>
            <a:endParaRPr lang="en-US" sz="8800" dirty="0">
              <a:solidFill>
                <a:schemeClr val="bg1"/>
              </a:solidFill>
              <a:latin typeface="DM Sans 14pt" pitchFamily="2" charset="7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762000" y="1047750"/>
            <a:ext cx="9035394" cy="6477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kern="0" spc="-144" dirty="0">
                <a:solidFill>
                  <a:srgbClr val="11111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Where your applies came from</a:t>
            </a:r>
            <a:endParaRPr lang="en-US" sz="4800" dirty="0">
              <a:latin typeface="DM Sans 14pt" pitchFamily="2" charset="7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62000" y="1866900"/>
            <a:ext cx="11944800" cy="7481190"/>
          </a:xfrm>
          <a:prstGeom prst="roundRect">
            <a:avLst>
              <a:gd name="adj" fmla="val 0"/>
            </a:avLst>
          </a:prstGeom>
          <a:noFill/>
          <a:ln w="19050">
            <a:noFill/>
            <a:prstDash val="dash"/>
          </a:ln>
        </p:spPr>
        <p:txBody>
          <a:bodyPr/>
          <a:lstStyle/>
          <a:p>
            <a:endParaRPr lang="en-GB">
              <a:latin typeface="DM Sans 14pt" pitchFamily="2" charset="7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71800" y="2301215"/>
            <a:ext cx="11725200" cy="6940550"/>
          </a:xfrm>
          <a:prstGeom prst="roundRect">
            <a:avLst>
              <a:gd name="adj" fmla="val 0"/>
            </a:avLst>
          </a:prstGeom>
          <a:noFill/>
          <a:ln w="9525">
            <a:noFill/>
            <a:prstDash val="solid"/>
          </a:ln>
        </p:spPr>
        <p:txBody>
          <a:bodyPr/>
          <a:lstStyle/>
          <a:p>
            <a:r>
              <a:rPr lang="en-US" kern="0" spc="30" dirty="0">
                <a:solidFill>
                  <a:srgbClr val="240F45"/>
                </a:solidFill>
                <a:latin typeface="DM Sans 14pt" pitchFamily="2" charset="77"/>
                <a:ea typeface="monospace" pitchFamily="34" charset="-122"/>
                <a:cs typeface="monospace" pitchFamily="34" charset="-120"/>
              </a:rPr>
              <a:t>{{</a:t>
            </a:r>
            <a:r>
              <a:rPr lang="en-US" kern="0" spc="30" dirty="0" err="1">
                <a:solidFill>
                  <a:srgbClr val="240F45"/>
                </a:solidFill>
                <a:latin typeface="DM Sans 14pt" pitchFamily="2" charset="77"/>
                <a:ea typeface="monospace" pitchFamily="34" charset="-122"/>
                <a:cs typeface="monospace" pitchFamily="34" charset="-120"/>
              </a:rPr>
              <a:t>chart:postings_by_type</a:t>
            </a:r>
            <a:r>
              <a:rPr lang="en-US" kern="0" spc="30" dirty="0">
                <a:solidFill>
                  <a:srgbClr val="240F45"/>
                </a:solidFill>
                <a:latin typeface="DM Sans 14pt" pitchFamily="2" charset="77"/>
                <a:ea typeface="monospace" pitchFamily="34" charset="-122"/>
                <a:cs typeface="monospace" pitchFamily="34" charset="-120"/>
              </a:rPr>
              <a:t>}}</a:t>
            </a:r>
            <a:endParaRPr lang="en-US" dirty="0">
              <a:latin typeface="DM Sans 14pt" pitchFamily="2" charset="77"/>
            </a:endParaRPr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62BE7D87-7869-8168-6968-EDBE76A419EB}"/>
              </a:ext>
            </a:extLst>
          </p:cNvPr>
          <p:cNvSpPr/>
          <p:nvPr/>
        </p:nvSpPr>
        <p:spPr>
          <a:xfrm>
            <a:off x="12995755" y="575051"/>
            <a:ext cx="4703047" cy="2808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algn="r"/>
            <a:r>
              <a:rPr lang="en-US" sz="1200" kern="0" spc="42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03 · JOB POSTINGS</a:t>
            </a:r>
            <a:endParaRPr lang="en-US" sz="1200" dirty="0">
              <a:latin typeface="DM Sans 14pt" pitchFamily="2" charset="7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07A67A-A209-CB62-2E13-644DBB245FFF}"/>
              </a:ext>
            </a:extLst>
          </p:cNvPr>
          <p:cNvSpPr/>
          <p:nvPr/>
        </p:nvSpPr>
        <p:spPr>
          <a:xfrm>
            <a:off x="762000" y="1866900"/>
            <a:ext cx="11944800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kern="0" spc="84" dirty="0">
                <a:solidFill>
                  <a:srgbClr val="111111">
                    <a:alpha val="63000"/>
                  </a:srgbClr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Postings · views · apply clicks per category</a:t>
            </a:r>
            <a:endParaRPr lang="en-US" dirty="0">
              <a:latin typeface="DM Sans 14pt" pitchFamily="2" charset="77"/>
            </a:endParaRPr>
          </a:p>
        </p:txBody>
      </p:sp>
      <p:sp>
        <p:nvSpPr>
          <p:cNvPr id="10" name="Shape 28">
            <a:extLst>
              <a:ext uri="{FF2B5EF4-FFF2-40B4-BE49-F238E27FC236}">
                <a16:creationId xmlns:a16="http://schemas.microsoft.com/office/drawing/2014/main" id="{AFE5766F-F155-3B07-428B-A39029D39CF9}"/>
              </a:ext>
            </a:extLst>
          </p:cNvPr>
          <p:cNvSpPr/>
          <p:nvPr/>
        </p:nvSpPr>
        <p:spPr>
          <a:xfrm>
            <a:off x="12995755" y="1866900"/>
            <a:ext cx="4701600" cy="1188000"/>
          </a:xfrm>
          <a:prstGeom prst="roundRect">
            <a:avLst>
              <a:gd name="adj" fmla="val 6000"/>
            </a:avLst>
          </a:prstGeom>
          <a:solidFill>
            <a:srgbClr val="643791">
              <a:alpha val="8000"/>
            </a:srgbClr>
          </a:solidFill>
          <a:ln>
            <a:noFill/>
          </a:ln>
        </p:spPr>
        <p:txBody>
          <a:bodyPr/>
          <a:lstStyle/>
          <a:p>
            <a:r>
              <a:rPr lang="en-GB" sz="1400" dirty="0">
                <a:solidFill>
                  <a:srgbClr val="643791"/>
                </a:solidFill>
                <a:latin typeface="DM Sans 14pt" pitchFamily="2" charset="77"/>
              </a:rPr>
              <a:t>{{</a:t>
            </a:r>
            <a:r>
              <a:rPr lang="en-GB" sz="1400" dirty="0" err="1">
                <a:solidFill>
                  <a:srgbClr val="643791"/>
                </a:solidFill>
                <a:latin typeface="DM Sans 14pt" pitchFamily="2" charset="77"/>
              </a:rPr>
              <a:t>chart_explainer_postings_by_type</a:t>
            </a:r>
            <a:r>
              <a:rPr lang="en-GB" sz="1400" dirty="0">
                <a:solidFill>
                  <a:srgbClr val="643791"/>
                </a:solidFill>
                <a:latin typeface="DM Sans 14pt" pitchFamily="2" charset="77"/>
              </a:rPr>
              <a:t>}}</a:t>
            </a:r>
          </a:p>
        </p:txBody>
      </p:sp>
      <p:sp>
        <p:nvSpPr>
          <p:cNvPr id="11" name="Text 27">
            <a:extLst>
              <a:ext uri="{FF2B5EF4-FFF2-40B4-BE49-F238E27FC236}">
                <a16:creationId xmlns:a16="http://schemas.microsoft.com/office/drawing/2014/main" id="{701E97B9-499D-96E0-E342-773D2083064A}"/>
              </a:ext>
            </a:extLst>
          </p:cNvPr>
          <p:cNvSpPr/>
          <p:nvPr/>
        </p:nvSpPr>
        <p:spPr>
          <a:xfrm>
            <a:off x="12995755" y="3259384"/>
            <a:ext cx="4701600" cy="488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Commentary</a:t>
            </a:r>
            <a:endParaRPr lang="en-US" sz="2400" b="1" dirty="0">
              <a:latin typeface="DM Sans 14pt" pitchFamily="2" charset="77"/>
            </a:endParaRPr>
          </a:p>
        </p:txBody>
      </p:sp>
      <p:sp>
        <p:nvSpPr>
          <p:cNvPr id="13" name="Shape 28">
            <a:extLst>
              <a:ext uri="{FF2B5EF4-FFF2-40B4-BE49-F238E27FC236}">
                <a16:creationId xmlns:a16="http://schemas.microsoft.com/office/drawing/2014/main" id="{2BF818E8-0463-8F64-E3B9-F3CA68736DF1}"/>
              </a:ext>
            </a:extLst>
          </p:cNvPr>
          <p:cNvSpPr/>
          <p:nvPr/>
        </p:nvSpPr>
        <p:spPr>
          <a:xfrm>
            <a:off x="12995755" y="3748249"/>
            <a:ext cx="4701600" cy="5606765"/>
          </a:xfrm>
          <a:prstGeom prst="roundRect">
            <a:avLst>
              <a:gd name="adj" fmla="val 3000"/>
            </a:avLst>
          </a:prstGeom>
          <a:solidFill>
            <a:srgbClr val="643791">
              <a:alpha val="8000"/>
            </a:srgbClr>
          </a:solidFill>
          <a:ln/>
        </p:spPr>
        <p:txBody>
          <a:bodyPr/>
          <a:lstStyle/>
          <a:p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</a:t>
            </a:r>
            <a:r>
              <a:rPr lang="en-US" sz="1400" dirty="0" err="1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commentary_postings_intro</a:t>
            </a:r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}}</a:t>
            </a:r>
          </a:p>
          <a:p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{{commentary_postings_point_1}}</a:t>
            </a:r>
          </a:p>
          <a:p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{{commentary_postings_point_2}}</a:t>
            </a:r>
          </a:p>
          <a:p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{{commentary_postings_point_3}}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DDED1F8-ADDB-C3A7-B6B0-7E6F41C156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526" y="636516"/>
            <a:ext cx="1411947" cy="2667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10F800-702E-5EBB-2722-059D6ACF7D0B}"/>
              </a:ext>
            </a:extLst>
          </p:cNvPr>
          <p:cNvSpPr txBox="1"/>
          <p:nvPr/>
        </p:nvSpPr>
        <p:spPr>
          <a:xfrm>
            <a:off x="15604114" y="9742289"/>
            <a:ext cx="2074286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{{</a:t>
            </a:r>
            <a:r>
              <a:rPr sz="1000" dirty="0" err="1">
                <a:solidFill>
                  <a:srgbClr val="5B5067"/>
                </a:solidFill>
                <a:latin typeface="DM Sans 14pt" pitchFamily="2" charset="77"/>
              </a:rPr>
              <a:t>slide_number</a:t>
            </a:r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}} / {{</a:t>
            </a:r>
            <a:r>
              <a:rPr sz="1000" dirty="0" err="1">
                <a:solidFill>
                  <a:srgbClr val="5B5067"/>
                </a:solidFill>
                <a:latin typeface="DM Sans 14pt" pitchFamily="2" charset="77"/>
              </a:rPr>
              <a:t>total_slides</a:t>
            </a:r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}}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E3C38D-6457-CDD9-F9B4-08174E27D65F}"/>
              </a:ext>
            </a:extLst>
          </p:cNvPr>
          <p:cNvSpPr txBox="1"/>
          <p:nvPr/>
        </p:nvSpPr>
        <p:spPr>
          <a:xfrm>
            <a:off x="609600" y="9742289"/>
            <a:ext cx="230031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dirty="0">
                <a:solidFill>
                  <a:srgbClr val="643791"/>
                </a:solidFill>
                <a:latin typeface="DM Sans 14pt" pitchFamily="2" charset="77"/>
              </a:rPr>
              <a:t>Jobs Go Public  ·  Go place</a:t>
            </a:r>
            <a:r>
              <a:rPr lang="en-GB" sz="1000" dirty="0">
                <a:solidFill>
                  <a:srgbClr val="643791"/>
                </a:solidFill>
                <a:latin typeface="DM Sans 14pt" pitchFamily="2" charset="77"/>
              </a:rPr>
              <a:t>s</a:t>
            </a:r>
            <a:r>
              <a:rPr sz="1000" dirty="0">
                <a:solidFill>
                  <a:srgbClr val="643791"/>
                </a:solidFill>
                <a:latin typeface="DM Sans 14pt" pitchFamily="2" charset="77"/>
              </a:rPr>
              <a:t>. Go public.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22">
            <a:extLst>
              <a:ext uri="{FF2B5EF4-FFF2-40B4-BE49-F238E27FC236}">
                <a16:creationId xmlns:a16="http://schemas.microsoft.com/office/drawing/2014/main" id="{1FA0AF3D-C6C8-7A95-0AC0-E7674622E367}"/>
              </a:ext>
            </a:extLst>
          </p:cNvPr>
          <p:cNvSpPr/>
          <p:nvPr/>
        </p:nvSpPr>
        <p:spPr>
          <a:xfrm>
            <a:off x="3901954" y="2799557"/>
            <a:ext cx="8805984" cy="6547741"/>
          </a:xfrm>
          <a:prstGeom prst="roundRect">
            <a:avLst>
              <a:gd name="adj" fmla="val 2332"/>
            </a:avLst>
          </a:prstGeom>
          <a:solidFill>
            <a:schemeClr val="bg1"/>
          </a:solidFill>
          <a:ln w="19050">
            <a:noFill/>
            <a:prstDash val="dash"/>
          </a:ln>
        </p:spPr>
        <p:txBody>
          <a:bodyPr/>
          <a:lstStyle/>
          <a:p>
            <a:endParaRPr lang="en-GB">
              <a:latin typeface="DM Sans 14pt" pitchFamily="2" charset="77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1047750"/>
            <a:ext cx="8166530" cy="6477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kern="0" spc="-144" dirty="0">
                <a:solidFill>
                  <a:srgbClr val="11111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Return on your subscription</a:t>
            </a:r>
            <a:endParaRPr lang="en-US" sz="4800" dirty="0">
              <a:latin typeface="DM Sans 14pt" pitchFamily="2" charset="7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62000" y="2800350"/>
            <a:ext cx="3036564" cy="6546948"/>
          </a:xfrm>
          <a:prstGeom prst="roundRect">
            <a:avLst>
              <a:gd name="adj" fmla="val 5085"/>
            </a:avLst>
          </a:prstGeom>
          <a:solidFill>
            <a:schemeClr val="bg1"/>
          </a:solidFill>
          <a:ln w="19050">
            <a:noFill/>
            <a:prstDash val="dash"/>
          </a:ln>
        </p:spPr>
        <p:txBody>
          <a:bodyPr/>
          <a:lstStyle/>
          <a:p>
            <a:endParaRPr lang="en-GB">
              <a:latin typeface="DM Sans 14pt" pitchFamily="2" charset="7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68675" y="3227185"/>
            <a:ext cx="2822400" cy="601381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noFill/>
            <a:prstDash val="solid"/>
          </a:ln>
        </p:spPr>
        <p:txBody>
          <a:bodyPr/>
          <a:lstStyle/>
          <a:p>
            <a:r>
              <a:rPr lang="en-US" kern="0" spc="30" dirty="0">
                <a:solidFill>
                  <a:srgbClr val="240F45"/>
                </a:solidFill>
                <a:latin typeface="DM Sans 14pt" pitchFamily="2" charset="77"/>
                <a:ea typeface="monospace" pitchFamily="34" charset="-122"/>
                <a:cs typeface="monospace" pitchFamily="34" charset="-120"/>
              </a:rPr>
              <a:t>{{</a:t>
            </a:r>
            <a:r>
              <a:rPr lang="en-US" kern="0" spc="30" dirty="0" err="1">
                <a:solidFill>
                  <a:srgbClr val="240F45"/>
                </a:solidFill>
                <a:latin typeface="DM Sans 14pt" pitchFamily="2" charset="77"/>
                <a:ea typeface="monospace" pitchFamily="34" charset="-122"/>
                <a:cs typeface="monospace" pitchFamily="34" charset="-120"/>
              </a:rPr>
              <a:t>chart:spend_vs_ratecard</a:t>
            </a:r>
            <a:r>
              <a:rPr lang="en-US" kern="0" spc="30" dirty="0">
                <a:solidFill>
                  <a:srgbClr val="240F45"/>
                </a:solidFill>
                <a:latin typeface="DM Sans 14pt" pitchFamily="2" charset="77"/>
                <a:ea typeface="monospace" pitchFamily="34" charset="-122"/>
                <a:cs typeface="monospace" pitchFamily="34" charset="-120"/>
              </a:rPr>
              <a:t>}}</a:t>
            </a:r>
            <a:endParaRPr lang="en-US" dirty="0">
              <a:latin typeface="DM Sans 14pt" pitchFamily="2" charset="77"/>
            </a:endParaRPr>
          </a:p>
        </p:txBody>
      </p:sp>
      <p:sp>
        <p:nvSpPr>
          <p:cNvPr id="7" name="Shape 26">
            <a:extLst>
              <a:ext uri="{FF2B5EF4-FFF2-40B4-BE49-F238E27FC236}">
                <a16:creationId xmlns:a16="http://schemas.microsoft.com/office/drawing/2014/main" id="{02ECFA5D-F050-4107-9A4C-51CC49989A6F}"/>
              </a:ext>
            </a:extLst>
          </p:cNvPr>
          <p:cNvSpPr/>
          <p:nvPr/>
        </p:nvSpPr>
        <p:spPr>
          <a:xfrm>
            <a:off x="4010146" y="3227184"/>
            <a:ext cx="8589600" cy="60138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noFill/>
            <a:prstDash val="solid"/>
          </a:ln>
        </p:spPr>
        <p:txBody>
          <a:bodyPr/>
          <a:lstStyle/>
          <a:p>
            <a:r>
              <a:rPr lang="en-US" kern="0" spc="30" dirty="0">
                <a:solidFill>
                  <a:srgbClr val="240F45"/>
                </a:solidFill>
                <a:latin typeface="DM Sans 14pt" pitchFamily="2" charset="77"/>
                <a:ea typeface="monospace" pitchFamily="34" charset="-122"/>
                <a:cs typeface="monospace" pitchFamily="34" charset="-120"/>
              </a:rPr>
              <a:t>{{</a:t>
            </a:r>
            <a:r>
              <a:rPr lang="en-US" kern="0" spc="30" dirty="0" err="1">
                <a:solidFill>
                  <a:srgbClr val="240F45"/>
                </a:solidFill>
                <a:latin typeface="DM Sans 14pt" pitchFamily="2" charset="77"/>
                <a:ea typeface="monospace" pitchFamily="34" charset="-122"/>
                <a:cs typeface="monospace" pitchFamily="34" charset="-120"/>
              </a:rPr>
              <a:t>chart:cost_per_app_by_occupation</a:t>
            </a:r>
            <a:r>
              <a:rPr lang="en-US" kern="0" spc="30" dirty="0">
                <a:solidFill>
                  <a:srgbClr val="240F45"/>
                </a:solidFill>
                <a:latin typeface="DM Sans 14pt" pitchFamily="2" charset="77"/>
                <a:ea typeface="monospace" pitchFamily="34" charset="-122"/>
                <a:cs typeface="monospace" pitchFamily="34" charset="-120"/>
              </a:rPr>
              <a:t>}}</a:t>
            </a:r>
            <a:endParaRPr lang="en-US" dirty="0">
              <a:latin typeface="DM Sans 14pt" pitchFamily="2" charset="77"/>
            </a:endParaRPr>
          </a:p>
        </p:txBody>
      </p:sp>
      <p:sp>
        <p:nvSpPr>
          <p:cNvPr id="70" name="Text 3">
            <a:extLst>
              <a:ext uri="{FF2B5EF4-FFF2-40B4-BE49-F238E27FC236}">
                <a16:creationId xmlns:a16="http://schemas.microsoft.com/office/drawing/2014/main" id="{A5DE5FD6-3A8E-E663-3EA5-D6DE5AEB793B}"/>
              </a:ext>
            </a:extLst>
          </p:cNvPr>
          <p:cNvSpPr/>
          <p:nvPr/>
        </p:nvSpPr>
        <p:spPr>
          <a:xfrm>
            <a:off x="12995755" y="575050"/>
            <a:ext cx="4703047" cy="2808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algn="r"/>
            <a:r>
              <a:rPr lang="en-US" sz="1200" kern="0" spc="42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04 · ADVERTISING ROI</a:t>
            </a:r>
            <a:endParaRPr lang="en-US" sz="1200" dirty="0">
              <a:latin typeface="DM Sans 14pt" pitchFamily="2" charset="77"/>
            </a:endParaRPr>
          </a:p>
        </p:txBody>
      </p:sp>
      <p:sp>
        <p:nvSpPr>
          <p:cNvPr id="31" name="Shape 6">
            <a:extLst>
              <a:ext uri="{FF2B5EF4-FFF2-40B4-BE49-F238E27FC236}">
                <a16:creationId xmlns:a16="http://schemas.microsoft.com/office/drawing/2014/main" id="{09A0168B-F380-80A7-39A5-36B8F464A5FE}"/>
              </a:ext>
            </a:extLst>
          </p:cNvPr>
          <p:cNvSpPr/>
          <p:nvPr/>
        </p:nvSpPr>
        <p:spPr>
          <a:xfrm>
            <a:off x="761998" y="1866900"/>
            <a:ext cx="2919600" cy="723600"/>
          </a:xfrm>
          <a:prstGeom prst="roundRect">
            <a:avLst/>
          </a:prstGeom>
          <a:solidFill>
            <a:srgbClr val="643791"/>
          </a:solidFill>
          <a:ln/>
        </p:spPr>
        <p:txBody>
          <a:bodyPr/>
          <a:lstStyle/>
          <a:p>
            <a:pPr algn="r"/>
            <a:r>
              <a:rPr lang="en-US" sz="1200" kern="0" dirty="0">
                <a:solidFill>
                  <a:srgbClr val="FFFFFF">
                    <a:alpha val="85000"/>
                  </a:srgbClr>
                </a:solidFill>
                <a:latin typeface="DM Sans 14pt" pitchFamily="2" charset="77"/>
                <a:cs typeface="Arial" pitchFamily="34" charset="-120"/>
              </a:rPr>
              <a:t>Jobs </a:t>
            </a:r>
          </a:p>
          <a:p>
            <a:pPr algn="r"/>
            <a:r>
              <a:rPr lang="en-US" sz="1200" kern="0" dirty="0">
                <a:solidFill>
                  <a:srgbClr val="FFFFFF">
                    <a:alpha val="85000"/>
                  </a:srgbClr>
                </a:solidFill>
                <a:latin typeface="DM Sans 14pt" pitchFamily="2" charset="77"/>
                <a:cs typeface="Arial" pitchFamily="34" charset="-120"/>
              </a:rPr>
              <a:t>advertised </a:t>
            </a:r>
          </a:p>
          <a:p>
            <a:pPr algn="r"/>
            <a:r>
              <a:rPr lang="en-US" sz="1200" kern="0" dirty="0">
                <a:solidFill>
                  <a:srgbClr val="FFFFFF">
                    <a:alpha val="85000"/>
                  </a:srgbClr>
                </a:solidFill>
                <a:latin typeface="DM Sans 14pt" pitchFamily="2" charset="77"/>
                <a:cs typeface="Arial" pitchFamily="34" charset="-120"/>
              </a:rPr>
              <a:t>this  period</a:t>
            </a:r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F6C7FAF3-554C-2106-11D3-A3E13AF10E91}"/>
              </a:ext>
            </a:extLst>
          </p:cNvPr>
          <p:cNvSpPr/>
          <p:nvPr/>
        </p:nvSpPr>
        <p:spPr>
          <a:xfrm>
            <a:off x="811592" y="1925993"/>
            <a:ext cx="1728000" cy="604800"/>
          </a:xfrm>
          <a:prstGeom prst="roundRect">
            <a:avLst>
              <a:gd name="adj" fmla="val 17778"/>
            </a:avLst>
          </a:prstGeom>
          <a:solidFill>
            <a:srgbClr val="FFFFFF">
              <a:alpha val="15000"/>
            </a:srgbClr>
          </a:solidFill>
          <a:ln/>
        </p:spPr>
        <p:txBody>
          <a:bodyPr lIns="36000" tIns="36000" rIns="36000" bIns="36000" anchor="ctr"/>
          <a:lstStyle/>
          <a:p>
            <a:pPr algn="ctr"/>
            <a:r>
              <a:rPr lang="en-GB" sz="3000" dirty="0">
                <a:solidFill>
                  <a:schemeClr val="bg1"/>
                </a:solidFill>
                <a:latin typeface="DM Sans 14pt" pitchFamily="2" charset="77"/>
              </a:rPr>
              <a:t>{{</a:t>
            </a:r>
            <a:r>
              <a:rPr lang="en-GB" sz="3000" dirty="0" err="1">
                <a:solidFill>
                  <a:schemeClr val="bg1"/>
                </a:solidFill>
                <a:latin typeface="DM Sans 14pt" pitchFamily="2" charset="77"/>
              </a:rPr>
              <a:t>stat_total_jobs</a:t>
            </a:r>
            <a:r>
              <a:rPr lang="en-GB" sz="3000" dirty="0">
                <a:solidFill>
                  <a:schemeClr val="bg1"/>
                </a:solidFill>
                <a:latin typeface="DM Sans 14pt" pitchFamily="2" charset="77"/>
              </a:rPr>
              <a:t>}}</a:t>
            </a:r>
            <a:endParaRPr lang="en-US" sz="3000" dirty="0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33" name="Shape 6">
            <a:extLst>
              <a:ext uri="{FF2B5EF4-FFF2-40B4-BE49-F238E27FC236}">
                <a16:creationId xmlns:a16="http://schemas.microsoft.com/office/drawing/2014/main" id="{94E35CDC-E6D9-1C8A-2FF0-8C32B865FB4F}"/>
              </a:ext>
            </a:extLst>
          </p:cNvPr>
          <p:cNvSpPr/>
          <p:nvPr/>
        </p:nvSpPr>
        <p:spPr>
          <a:xfrm>
            <a:off x="3770778" y="1866900"/>
            <a:ext cx="2919600" cy="723600"/>
          </a:xfrm>
          <a:prstGeom prst="roundRect">
            <a:avLst/>
          </a:prstGeom>
          <a:solidFill>
            <a:srgbClr val="E6FF6E"/>
          </a:solidFill>
          <a:ln/>
        </p:spPr>
        <p:txBody>
          <a:bodyPr/>
          <a:lstStyle/>
          <a:p>
            <a:pPr algn="r"/>
            <a:r>
              <a:rPr lang="en-US" sz="1200" kern="0" dirty="0">
                <a:solidFill>
                  <a:srgbClr val="757575">
                    <a:alpha val="85000"/>
                  </a:srgbClr>
                </a:solidFill>
                <a:latin typeface="DM Sans 14pt" pitchFamily="2" charset="77"/>
                <a:cs typeface="Arial" pitchFamily="34" charset="-120"/>
              </a:rPr>
              <a:t>Cost per </a:t>
            </a:r>
          </a:p>
          <a:p>
            <a:pPr algn="r"/>
            <a:r>
              <a:rPr lang="en-US" sz="1200" kern="0" dirty="0">
                <a:solidFill>
                  <a:srgbClr val="757575">
                    <a:alpha val="85000"/>
                  </a:srgbClr>
                </a:solidFill>
                <a:latin typeface="DM Sans 14pt" pitchFamily="2" charset="77"/>
                <a:cs typeface="Arial" pitchFamily="34" charset="-120"/>
              </a:rPr>
              <a:t>job</a:t>
            </a: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87887C06-69D9-CF7F-C0DE-8E57574B2DF3}"/>
              </a:ext>
            </a:extLst>
          </p:cNvPr>
          <p:cNvSpPr/>
          <p:nvPr/>
        </p:nvSpPr>
        <p:spPr>
          <a:xfrm>
            <a:off x="3820371" y="1925993"/>
            <a:ext cx="1728000" cy="604800"/>
          </a:xfrm>
          <a:prstGeom prst="roundRect">
            <a:avLst>
              <a:gd name="adj" fmla="val 17778"/>
            </a:avLst>
          </a:prstGeom>
          <a:solidFill>
            <a:srgbClr val="D4EB66"/>
          </a:solidFill>
          <a:ln/>
        </p:spPr>
        <p:txBody>
          <a:bodyPr lIns="36000" tIns="36000" rIns="36000" bIns="36000" anchor="ctr"/>
          <a:lstStyle/>
          <a:p>
            <a:pPr algn="ctr">
              <a:lnSpc>
                <a:spcPct val="110000"/>
              </a:lnSpc>
            </a:pPr>
            <a:r>
              <a:rPr lang="en-GB" sz="3000" dirty="0">
                <a:solidFill>
                  <a:srgbClr val="757575"/>
                </a:solidFill>
                <a:latin typeface="DM Sans 14pt" pitchFamily="2" charset="77"/>
              </a:rPr>
              <a:t>{{</a:t>
            </a:r>
            <a:r>
              <a:rPr lang="en-GB" sz="3000" dirty="0" err="1">
                <a:solidFill>
                  <a:srgbClr val="757575"/>
                </a:solidFill>
                <a:latin typeface="DM Sans 14pt" pitchFamily="2" charset="77"/>
              </a:rPr>
              <a:t>stat_cost_per_job</a:t>
            </a:r>
            <a:r>
              <a:rPr lang="en-GB" sz="3000" dirty="0">
                <a:solidFill>
                  <a:srgbClr val="757575"/>
                </a:solidFill>
                <a:latin typeface="DM Sans 14pt" pitchFamily="2" charset="77"/>
              </a:rPr>
              <a:t>}}</a:t>
            </a:r>
            <a:endParaRPr lang="en-US" sz="3000" dirty="0">
              <a:solidFill>
                <a:srgbClr val="757575"/>
              </a:solidFill>
              <a:latin typeface="DM Sans 14pt" pitchFamily="2" charset="77"/>
            </a:endParaRPr>
          </a:p>
        </p:txBody>
      </p:sp>
      <p:sp>
        <p:nvSpPr>
          <p:cNvPr id="35" name="Shape 6">
            <a:extLst>
              <a:ext uri="{FF2B5EF4-FFF2-40B4-BE49-F238E27FC236}">
                <a16:creationId xmlns:a16="http://schemas.microsoft.com/office/drawing/2014/main" id="{A5E31498-FA6D-09E3-AA19-F3987DD6FE78}"/>
              </a:ext>
            </a:extLst>
          </p:cNvPr>
          <p:cNvSpPr/>
          <p:nvPr/>
        </p:nvSpPr>
        <p:spPr>
          <a:xfrm>
            <a:off x="6779558" y="1866900"/>
            <a:ext cx="2919600" cy="723600"/>
          </a:xfrm>
          <a:prstGeom prst="roundRect">
            <a:avLst/>
          </a:prstGeom>
          <a:solidFill>
            <a:srgbClr val="643791"/>
          </a:solidFill>
          <a:ln/>
        </p:spPr>
        <p:txBody>
          <a:bodyPr/>
          <a:lstStyle/>
          <a:p>
            <a:pPr algn="r"/>
            <a:r>
              <a:rPr lang="en-US" sz="1200" kern="0" dirty="0">
                <a:solidFill>
                  <a:srgbClr val="FFFFFF">
                    <a:alpha val="85000"/>
                  </a:srgbClr>
                </a:solidFill>
                <a:latin typeface="DM Sans 14pt" pitchFamily="2" charset="77"/>
                <a:cs typeface="Arial" pitchFamily="34" charset="-120"/>
              </a:rPr>
              <a:t>Cost per </a:t>
            </a:r>
          </a:p>
          <a:p>
            <a:pPr algn="r"/>
            <a:r>
              <a:rPr lang="en-US" sz="1200" kern="0">
                <a:solidFill>
                  <a:srgbClr val="FFFFFF">
                    <a:alpha val="85000"/>
                  </a:srgbClr>
                </a:solidFill>
                <a:latin typeface="DM Sans 14pt" pitchFamily="2" charset="77"/>
                <a:cs typeface="Arial" pitchFamily="34" charset="-120"/>
              </a:rPr>
              <a:t>view</a:t>
            </a:r>
            <a:endParaRPr lang="en-US" sz="1200" kern="0" dirty="0">
              <a:solidFill>
                <a:srgbClr val="FFFFFF">
                  <a:alpha val="85000"/>
                </a:srgbClr>
              </a:solidFill>
              <a:latin typeface="DM Sans 14pt" pitchFamily="2" charset="77"/>
              <a:cs typeface="Arial" pitchFamily="34" charset="-120"/>
            </a:endParaRPr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05796D16-C6C7-9826-FA3C-FAF8DCC80115}"/>
              </a:ext>
            </a:extLst>
          </p:cNvPr>
          <p:cNvSpPr/>
          <p:nvPr/>
        </p:nvSpPr>
        <p:spPr>
          <a:xfrm>
            <a:off x="6829151" y="1925993"/>
            <a:ext cx="1728000" cy="604800"/>
          </a:xfrm>
          <a:prstGeom prst="roundRect">
            <a:avLst>
              <a:gd name="adj" fmla="val 17778"/>
            </a:avLst>
          </a:prstGeom>
          <a:solidFill>
            <a:srgbClr val="FFFFFF">
              <a:alpha val="15000"/>
            </a:srgbClr>
          </a:solidFill>
          <a:ln/>
        </p:spPr>
        <p:txBody>
          <a:bodyPr lIns="36000" tIns="36000" rIns="36000" bIns="36000" anchor="ctr"/>
          <a:lstStyle/>
          <a:p>
            <a:pPr algn="ctr"/>
            <a:r>
              <a:rPr lang="en-GB" sz="3000" dirty="0">
                <a:solidFill>
                  <a:schemeClr val="bg1"/>
                </a:solidFill>
                <a:latin typeface="DM Sans 14pt" pitchFamily="2" charset="77"/>
              </a:rPr>
              <a:t>{{</a:t>
            </a:r>
            <a:r>
              <a:rPr lang="en-GB" sz="3000" dirty="0" err="1">
                <a:solidFill>
                  <a:schemeClr val="bg1"/>
                </a:solidFill>
                <a:latin typeface="DM Sans 14pt" pitchFamily="2" charset="77"/>
              </a:rPr>
              <a:t>stat_cost_per_view</a:t>
            </a:r>
            <a:r>
              <a:rPr lang="en-GB" sz="3000" dirty="0">
                <a:solidFill>
                  <a:schemeClr val="bg1"/>
                </a:solidFill>
                <a:latin typeface="DM Sans 14pt" pitchFamily="2" charset="77"/>
              </a:rPr>
              <a:t>}}</a:t>
            </a:r>
            <a:endParaRPr lang="en-US" sz="3000" dirty="0">
              <a:solidFill>
                <a:schemeClr val="bg1"/>
              </a:solidFill>
              <a:latin typeface="DM Sans 14pt" pitchFamily="2" charset="77"/>
            </a:endParaRPr>
          </a:p>
        </p:txBody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68276EBA-110F-3411-194D-C9E8C43AE6CA}"/>
              </a:ext>
            </a:extLst>
          </p:cNvPr>
          <p:cNvSpPr/>
          <p:nvPr/>
        </p:nvSpPr>
        <p:spPr>
          <a:xfrm>
            <a:off x="9788338" y="1866900"/>
            <a:ext cx="2919600" cy="723600"/>
          </a:xfrm>
          <a:prstGeom prst="roundRect">
            <a:avLst/>
          </a:prstGeom>
          <a:solidFill>
            <a:srgbClr val="E6FF6E"/>
          </a:solidFill>
          <a:ln/>
        </p:spPr>
        <p:txBody>
          <a:bodyPr/>
          <a:lstStyle/>
          <a:p>
            <a:pPr algn="r"/>
            <a:r>
              <a:rPr lang="en-US" sz="1200" kern="0" dirty="0">
                <a:solidFill>
                  <a:srgbClr val="757575">
                    <a:alpha val="85000"/>
                  </a:srgbClr>
                </a:solidFill>
                <a:latin typeface="DM Sans 14pt" pitchFamily="2" charset="77"/>
                <a:cs typeface="Arial" pitchFamily="34" charset="-120"/>
              </a:rPr>
              <a:t>Cost per </a:t>
            </a:r>
          </a:p>
          <a:p>
            <a:pPr algn="r"/>
            <a:r>
              <a:rPr lang="en-US" sz="1200" kern="0" dirty="0">
                <a:solidFill>
                  <a:srgbClr val="757575">
                    <a:alpha val="85000"/>
                  </a:srgbClr>
                </a:solidFill>
                <a:latin typeface="DM Sans 14pt" pitchFamily="2" charset="77"/>
                <a:cs typeface="Arial" pitchFamily="34" charset="-120"/>
              </a:rPr>
              <a:t>apply</a:t>
            </a:r>
          </a:p>
        </p:txBody>
      </p:sp>
      <p:sp>
        <p:nvSpPr>
          <p:cNvPr id="47" name="Shape 7">
            <a:extLst>
              <a:ext uri="{FF2B5EF4-FFF2-40B4-BE49-F238E27FC236}">
                <a16:creationId xmlns:a16="http://schemas.microsoft.com/office/drawing/2014/main" id="{04BD443A-E607-4C46-2EF0-83A49510C3CC}"/>
              </a:ext>
            </a:extLst>
          </p:cNvPr>
          <p:cNvSpPr/>
          <p:nvPr/>
        </p:nvSpPr>
        <p:spPr>
          <a:xfrm>
            <a:off x="9837931" y="1925993"/>
            <a:ext cx="1728000" cy="604800"/>
          </a:xfrm>
          <a:prstGeom prst="roundRect">
            <a:avLst>
              <a:gd name="adj" fmla="val 17778"/>
            </a:avLst>
          </a:prstGeom>
          <a:solidFill>
            <a:srgbClr val="D4EB66"/>
          </a:solidFill>
          <a:ln/>
        </p:spPr>
        <p:txBody>
          <a:bodyPr lIns="36000" tIns="36000" rIns="36000" bIns="36000" anchor="ctr"/>
          <a:lstStyle/>
          <a:p>
            <a:pPr algn="ctr">
              <a:lnSpc>
                <a:spcPct val="110000"/>
              </a:lnSpc>
            </a:pPr>
            <a:r>
              <a:rPr lang="en-GB" sz="3000" dirty="0">
                <a:solidFill>
                  <a:srgbClr val="757575"/>
                </a:solidFill>
                <a:latin typeface="DM Sans 14pt" pitchFamily="2" charset="77"/>
              </a:rPr>
              <a:t>{{</a:t>
            </a:r>
            <a:r>
              <a:rPr lang="en-GB" sz="3000" dirty="0" err="1">
                <a:solidFill>
                  <a:srgbClr val="757575"/>
                </a:solidFill>
                <a:latin typeface="DM Sans 14pt" pitchFamily="2" charset="77"/>
              </a:rPr>
              <a:t>stat_cost_per_apply</a:t>
            </a:r>
            <a:r>
              <a:rPr lang="en-GB" sz="3000" dirty="0">
                <a:solidFill>
                  <a:srgbClr val="757575"/>
                </a:solidFill>
                <a:latin typeface="DM Sans 14pt" pitchFamily="2" charset="77"/>
              </a:rPr>
              <a:t>}}</a:t>
            </a:r>
            <a:endParaRPr lang="en-US" sz="3000" dirty="0">
              <a:solidFill>
                <a:srgbClr val="757575"/>
              </a:solidFill>
              <a:latin typeface="DM Sans 14pt" pitchFamily="2" charset="77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1E2CB06-5747-3C23-E251-3CD858542AE9}"/>
              </a:ext>
            </a:extLst>
          </p:cNvPr>
          <p:cNvSpPr/>
          <p:nvPr/>
        </p:nvSpPr>
        <p:spPr>
          <a:xfrm>
            <a:off x="761999" y="2799557"/>
            <a:ext cx="3036566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kern="0" spc="84" dirty="0">
                <a:solidFill>
                  <a:srgbClr val="111111">
                    <a:alpha val="63000"/>
                  </a:srgbClr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Spent vs rate card</a:t>
            </a:r>
            <a:endParaRPr lang="en-US" dirty="0">
              <a:latin typeface="DM Sans 14pt" pitchFamily="2" charset="77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A689E9D-4C68-487F-F198-BD395CA50078}"/>
              </a:ext>
            </a:extLst>
          </p:cNvPr>
          <p:cNvSpPr/>
          <p:nvPr/>
        </p:nvSpPr>
        <p:spPr>
          <a:xfrm>
            <a:off x="3901953" y="2799557"/>
            <a:ext cx="8805985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kern="0" spc="84" dirty="0">
                <a:solidFill>
                  <a:srgbClr val="111111">
                    <a:alpha val="63000"/>
                  </a:srgbClr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Cost per view · Cost per apply · by job type</a:t>
            </a:r>
            <a:endParaRPr lang="en-US" dirty="0">
              <a:latin typeface="DM Sans 14pt" pitchFamily="2" charset="77"/>
            </a:endParaRPr>
          </a:p>
        </p:txBody>
      </p:sp>
      <p:sp>
        <p:nvSpPr>
          <p:cNvPr id="8" name="Shape 28">
            <a:extLst>
              <a:ext uri="{FF2B5EF4-FFF2-40B4-BE49-F238E27FC236}">
                <a16:creationId xmlns:a16="http://schemas.microsoft.com/office/drawing/2014/main" id="{6A49D103-117C-847C-0C9B-0C9675E0C883}"/>
              </a:ext>
            </a:extLst>
          </p:cNvPr>
          <p:cNvSpPr/>
          <p:nvPr/>
        </p:nvSpPr>
        <p:spPr>
          <a:xfrm>
            <a:off x="12995755" y="1866900"/>
            <a:ext cx="4701600" cy="1188000"/>
          </a:xfrm>
          <a:prstGeom prst="roundRect">
            <a:avLst>
              <a:gd name="adj" fmla="val 6000"/>
            </a:avLst>
          </a:prstGeom>
          <a:solidFill>
            <a:srgbClr val="643791">
              <a:alpha val="8000"/>
            </a:srgbClr>
          </a:solidFill>
          <a:ln/>
        </p:spPr>
        <p:txBody>
          <a:bodyPr/>
          <a:lstStyle/>
          <a:p>
            <a:r>
              <a:rPr lang="en-GB" sz="1400" dirty="0">
                <a:solidFill>
                  <a:srgbClr val="643791"/>
                </a:solidFill>
                <a:latin typeface="DM Sans 14pt" pitchFamily="2" charset="77"/>
              </a:rPr>
              <a:t>{{</a:t>
            </a:r>
            <a:r>
              <a:rPr lang="en-GB" sz="1400" dirty="0" err="1">
                <a:solidFill>
                  <a:srgbClr val="643791"/>
                </a:solidFill>
                <a:latin typeface="DM Sans 14pt" pitchFamily="2" charset="77"/>
              </a:rPr>
              <a:t>chart_explainer_spend_vs_ratecard</a:t>
            </a:r>
            <a:r>
              <a:rPr lang="en-GB" sz="1400" dirty="0">
                <a:solidFill>
                  <a:srgbClr val="643791"/>
                </a:solidFill>
                <a:latin typeface="DM Sans 14pt" pitchFamily="2" charset="77"/>
              </a:rPr>
              <a:t>}}</a:t>
            </a:r>
          </a:p>
        </p:txBody>
      </p:sp>
      <p:sp>
        <p:nvSpPr>
          <p:cNvPr id="9" name="Shape 28">
            <a:extLst>
              <a:ext uri="{FF2B5EF4-FFF2-40B4-BE49-F238E27FC236}">
                <a16:creationId xmlns:a16="http://schemas.microsoft.com/office/drawing/2014/main" id="{B791A240-B474-B511-F245-3B06012C0378}"/>
              </a:ext>
            </a:extLst>
          </p:cNvPr>
          <p:cNvSpPr/>
          <p:nvPr/>
        </p:nvSpPr>
        <p:spPr>
          <a:xfrm>
            <a:off x="12995755" y="3262647"/>
            <a:ext cx="4701600" cy="1188000"/>
          </a:xfrm>
          <a:prstGeom prst="roundRect">
            <a:avLst>
              <a:gd name="adj" fmla="val 6000"/>
            </a:avLst>
          </a:prstGeom>
          <a:solidFill>
            <a:srgbClr val="643791">
              <a:alpha val="8000"/>
            </a:srgbClr>
          </a:solidFill>
          <a:ln/>
        </p:spPr>
        <p:txBody>
          <a:bodyPr/>
          <a:lstStyle/>
          <a:p>
            <a:r>
              <a:rPr lang="en-GB" sz="1400" dirty="0">
                <a:solidFill>
                  <a:srgbClr val="643791"/>
                </a:solidFill>
                <a:latin typeface="DM Sans 14pt" pitchFamily="2" charset="77"/>
              </a:rPr>
              <a:t>{{</a:t>
            </a:r>
            <a:r>
              <a:rPr lang="en-GB" sz="1400" dirty="0" err="1">
                <a:solidFill>
                  <a:srgbClr val="643791"/>
                </a:solidFill>
                <a:latin typeface="DM Sans 14pt" pitchFamily="2" charset="77"/>
              </a:rPr>
              <a:t>chart_explainer_cost_per_app_by_occupation</a:t>
            </a:r>
            <a:r>
              <a:rPr lang="en-GB" sz="1400" dirty="0">
                <a:solidFill>
                  <a:srgbClr val="643791"/>
                </a:solidFill>
                <a:latin typeface="DM Sans 14pt" pitchFamily="2" charset="77"/>
              </a:rPr>
              <a:t>}}</a:t>
            </a:r>
          </a:p>
        </p:txBody>
      </p:sp>
      <p:sp>
        <p:nvSpPr>
          <p:cNvPr id="11" name="Text 27">
            <a:extLst>
              <a:ext uri="{FF2B5EF4-FFF2-40B4-BE49-F238E27FC236}">
                <a16:creationId xmlns:a16="http://schemas.microsoft.com/office/drawing/2014/main" id="{30D615AC-9DBC-D2DC-5A8C-5430DBE92ADE}"/>
              </a:ext>
            </a:extLst>
          </p:cNvPr>
          <p:cNvSpPr/>
          <p:nvPr/>
        </p:nvSpPr>
        <p:spPr>
          <a:xfrm>
            <a:off x="12995755" y="4658394"/>
            <a:ext cx="4701600" cy="488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Commentary</a:t>
            </a:r>
            <a:endParaRPr lang="en-US" sz="2400" b="1" dirty="0">
              <a:latin typeface="DM Sans 14pt" pitchFamily="2" charset="77"/>
            </a:endParaRPr>
          </a:p>
        </p:txBody>
      </p:sp>
      <p:sp>
        <p:nvSpPr>
          <p:cNvPr id="13" name="Shape 28">
            <a:extLst>
              <a:ext uri="{FF2B5EF4-FFF2-40B4-BE49-F238E27FC236}">
                <a16:creationId xmlns:a16="http://schemas.microsoft.com/office/drawing/2014/main" id="{47061B04-CB2F-1EB7-370D-17632FF731D8}"/>
              </a:ext>
            </a:extLst>
          </p:cNvPr>
          <p:cNvSpPr/>
          <p:nvPr/>
        </p:nvSpPr>
        <p:spPr>
          <a:xfrm>
            <a:off x="12995755" y="5143500"/>
            <a:ext cx="4701600" cy="4211514"/>
          </a:xfrm>
          <a:prstGeom prst="roundRect">
            <a:avLst>
              <a:gd name="adj" fmla="val 3500"/>
            </a:avLst>
          </a:prstGeom>
          <a:solidFill>
            <a:srgbClr val="643791">
              <a:alpha val="8000"/>
            </a:srgbClr>
          </a:solidFill>
          <a:ln/>
        </p:spPr>
        <p:txBody>
          <a:bodyPr/>
          <a:lstStyle/>
          <a:p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</a:t>
            </a:r>
            <a:r>
              <a:rPr lang="en-US" sz="1400" dirty="0" err="1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commentary_roi</a:t>
            </a:r>
            <a:r>
              <a:rPr lang="en-US" sz="1400" err="1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_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intro}}</a:t>
            </a:r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{{commentary_roi_point_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1}}</a:t>
            </a:r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{{commentary_roi_point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_2}}</a:t>
            </a:r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9C31F49-82F1-13A6-2D4E-A73F128E28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526" y="636516"/>
            <a:ext cx="1411947" cy="2667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CF0908-0E0D-387D-747C-8239416C7B8C}"/>
              </a:ext>
            </a:extLst>
          </p:cNvPr>
          <p:cNvSpPr txBox="1"/>
          <p:nvPr/>
        </p:nvSpPr>
        <p:spPr>
          <a:xfrm>
            <a:off x="15604114" y="9742289"/>
            <a:ext cx="2074286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{{</a:t>
            </a:r>
            <a:r>
              <a:rPr sz="1000" dirty="0" err="1">
                <a:solidFill>
                  <a:srgbClr val="5B5067"/>
                </a:solidFill>
                <a:latin typeface="DM Sans 14pt" pitchFamily="2" charset="77"/>
              </a:rPr>
              <a:t>slide_number</a:t>
            </a:r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}} / {{</a:t>
            </a:r>
            <a:r>
              <a:rPr sz="1000" dirty="0" err="1">
                <a:solidFill>
                  <a:srgbClr val="5B5067"/>
                </a:solidFill>
                <a:latin typeface="DM Sans 14pt" pitchFamily="2" charset="77"/>
              </a:rPr>
              <a:t>total_slides</a:t>
            </a:r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}}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866856-4D79-928A-C6B5-60751858D914}"/>
              </a:ext>
            </a:extLst>
          </p:cNvPr>
          <p:cNvSpPr txBox="1"/>
          <p:nvPr/>
        </p:nvSpPr>
        <p:spPr>
          <a:xfrm>
            <a:off x="609600" y="9742289"/>
            <a:ext cx="230031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dirty="0">
                <a:solidFill>
                  <a:srgbClr val="643791"/>
                </a:solidFill>
                <a:latin typeface="DM Sans 14pt" pitchFamily="2" charset="77"/>
              </a:rPr>
              <a:t>Jobs Go Public  ·  Go place</a:t>
            </a:r>
            <a:r>
              <a:rPr lang="en-GB" sz="1000" dirty="0">
                <a:solidFill>
                  <a:srgbClr val="643791"/>
                </a:solidFill>
                <a:latin typeface="DM Sans 14pt" pitchFamily="2" charset="77"/>
              </a:rPr>
              <a:t>s</a:t>
            </a:r>
            <a:r>
              <a:rPr sz="1000" dirty="0">
                <a:solidFill>
                  <a:srgbClr val="643791"/>
                </a:solidFill>
                <a:latin typeface="DM Sans 14pt" pitchFamily="2" charset="77"/>
              </a:rPr>
              <a:t>. Go public.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762000" y="1047750"/>
            <a:ext cx="9460629" cy="6477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kern="0" spc="-144" dirty="0">
                <a:solidFill>
                  <a:srgbClr val="11111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Which channels worked hardest</a:t>
            </a:r>
            <a:endParaRPr lang="en-US" sz="4800" dirty="0">
              <a:latin typeface="DM Sans 14pt" pitchFamily="2" charset="7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77462" y="2486027"/>
            <a:ext cx="11350567" cy="662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endParaRPr lang="en-US" sz="1650" dirty="0">
              <a:latin typeface="DM Sans 14pt" pitchFamily="2" charset="77"/>
            </a:endParaRPr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176F46CA-EFBD-4EF3-CA69-1930614DD215}"/>
              </a:ext>
            </a:extLst>
          </p:cNvPr>
          <p:cNvSpPr/>
          <p:nvPr/>
        </p:nvSpPr>
        <p:spPr>
          <a:xfrm>
            <a:off x="12995755" y="575051"/>
            <a:ext cx="4703047" cy="2808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algn="r"/>
            <a:r>
              <a:rPr lang="en-US" sz="1200" kern="0" spc="42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05 · MEDIA PERFORMANCE</a:t>
            </a:r>
            <a:endParaRPr lang="en-US" sz="1200" dirty="0">
              <a:latin typeface="DM Sans 14pt" pitchFamily="2" charset="77"/>
            </a:endParaRPr>
          </a:p>
        </p:txBody>
      </p:sp>
      <p:sp>
        <p:nvSpPr>
          <p:cNvPr id="13" name="Shape 19">
            <a:extLst>
              <a:ext uri="{FF2B5EF4-FFF2-40B4-BE49-F238E27FC236}">
                <a16:creationId xmlns:a16="http://schemas.microsoft.com/office/drawing/2014/main" id="{C7D18365-0678-F3D8-B4C4-9BC05823CF69}"/>
              </a:ext>
            </a:extLst>
          </p:cNvPr>
          <p:cNvSpPr/>
          <p:nvPr/>
        </p:nvSpPr>
        <p:spPr>
          <a:xfrm>
            <a:off x="762000" y="1866900"/>
            <a:ext cx="11945938" cy="7481190"/>
          </a:xfrm>
          <a:prstGeom prst="roundRect">
            <a:avLst>
              <a:gd name="adj" fmla="val 2331"/>
            </a:avLst>
          </a:prstGeom>
          <a:noFill/>
          <a:ln w="19050">
            <a:noFill/>
            <a:prstDash val="dash"/>
          </a:ln>
        </p:spPr>
        <p:txBody>
          <a:bodyPr/>
          <a:lstStyle/>
          <a:p>
            <a:endParaRPr lang="en-GB">
              <a:latin typeface="DM Sans 14pt" pitchFamily="2" charset="77"/>
            </a:endParaRPr>
          </a:p>
        </p:txBody>
      </p:sp>
      <p:sp>
        <p:nvSpPr>
          <p:cNvPr id="14" name="Shape 23">
            <a:extLst>
              <a:ext uri="{FF2B5EF4-FFF2-40B4-BE49-F238E27FC236}">
                <a16:creationId xmlns:a16="http://schemas.microsoft.com/office/drawing/2014/main" id="{E7FBA325-E675-B8ED-62A7-0B1DE99C7D20}"/>
              </a:ext>
            </a:extLst>
          </p:cNvPr>
          <p:cNvSpPr/>
          <p:nvPr/>
        </p:nvSpPr>
        <p:spPr>
          <a:xfrm>
            <a:off x="868674" y="2292129"/>
            <a:ext cx="11727315" cy="6951522"/>
          </a:xfrm>
          <a:prstGeom prst="roundRect">
            <a:avLst>
              <a:gd name="adj" fmla="val 0"/>
            </a:avLst>
          </a:prstGeom>
          <a:noFill/>
          <a:ln w="9525">
            <a:noFill/>
            <a:prstDash val="solid"/>
          </a:ln>
        </p:spPr>
        <p:txBody>
          <a:bodyPr/>
          <a:lstStyle/>
          <a:p>
            <a:r>
              <a:rPr lang="en-US" kern="0" spc="30" dirty="0">
                <a:solidFill>
                  <a:srgbClr val="240F45"/>
                </a:solidFill>
                <a:latin typeface="DM Sans 14pt" pitchFamily="2" charset="77"/>
                <a:ea typeface="monospace" pitchFamily="34" charset="-122"/>
              </a:rPr>
              <a:t>{{</a:t>
            </a:r>
            <a:r>
              <a:rPr lang="en-US" kern="0" spc="30" dirty="0" err="1">
                <a:solidFill>
                  <a:srgbClr val="240F45"/>
                </a:solidFill>
                <a:latin typeface="DM Sans 14pt" pitchFamily="2" charset="77"/>
                <a:ea typeface="monospace" pitchFamily="34" charset="-122"/>
              </a:rPr>
              <a:t>chart:media_performance</a:t>
            </a:r>
            <a:r>
              <a:rPr lang="en-US" kern="0" spc="30" dirty="0">
                <a:solidFill>
                  <a:srgbClr val="240F45"/>
                </a:solidFill>
                <a:latin typeface="DM Sans 14pt" pitchFamily="2" charset="77"/>
                <a:ea typeface="monospace" pitchFamily="34" charset="-122"/>
              </a:rPr>
              <a:t>}}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5A2DA5-EFA0-6960-EF7E-91A9B04AFC71}"/>
              </a:ext>
            </a:extLst>
          </p:cNvPr>
          <p:cNvSpPr/>
          <p:nvPr/>
        </p:nvSpPr>
        <p:spPr>
          <a:xfrm>
            <a:off x="762000" y="1866899"/>
            <a:ext cx="11945938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kern="0" spc="84" dirty="0">
                <a:solidFill>
                  <a:srgbClr val="111111">
                    <a:alpha val="63000"/>
                  </a:srgbClr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Views and apply clicks per vacancy, per source</a:t>
            </a:r>
            <a:endParaRPr lang="en-US" dirty="0">
              <a:latin typeface="DM Sans 14pt" pitchFamily="2" charset="77"/>
            </a:endParaRPr>
          </a:p>
        </p:txBody>
      </p:sp>
      <p:sp>
        <p:nvSpPr>
          <p:cNvPr id="8" name="Shape 28">
            <a:extLst>
              <a:ext uri="{FF2B5EF4-FFF2-40B4-BE49-F238E27FC236}">
                <a16:creationId xmlns:a16="http://schemas.microsoft.com/office/drawing/2014/main" id="{CC7F9FAC-F4C9-64FC-9BBE-EE4FFC807375}"/>
              </a:ext>
            </a:extLst>
          </p:cNvPr>
          <p:cNvSpPr/>
          <p:nvPr/>
        </p:nvSpPr>
        <p:spPr>
          <a:xfrm>
            <a:off x="12995755" y="1866899"/>
            <a:ext cx="4701600" cy="1188000"/>
          </a:xfrm>
          <a:prstGeom prst="roundRect">
            <a:avLst>
              <a:gd name="adj" fmla="val 6000"/>
            </a:avLst>
          </a:prstGeom>
          <a:solidFill>
            <a:srgbClr val="643791">
              <a:alpha val="8000"/>
            </a:srgbClr>
          </a:solidFill>
          <a:ln/>
        </p:spPr>
        <p:txBody>
          <a:bodyPr/>
          <a:lstStyle/>
          <a:p>
            <a:r>
              <a:rPr lang="en-GB" sz="1400" dirty="0">
                <a:solidFill>
                  <a:srgbClr val="643791"/>
                </a:solidFill>
                <a:latin typeface="DM Sans 14pt" pitchFamily="2" charset="77"/>
              </a:rPr>
              <a:t>{{</a:t>
            </a:r>
            <a:r>
              <a:rPr lang="en-GB" sz="1400" dirty="0" err="1">
                <a:solidFill>
                  <a:srgbClr val="643791"/>
                </a:solidFill>
                <a:latin typeface="DM Sans 14pt" pitchFamily="2" charset="77"/>
              </a:rPr>
              <a:t>chart_explainer_media_performance</a:t>
            </a:r>
            <a:r>
              <a:rPr lang="en-GB" sz="1400" dirty="0">
                <a:solidFill>
                  <a:srgbClr val="643791"/>
                </a:solidFill>
                <a:latin typeface="DM Sans 14pt" pitchFamily="2" charset="77"/>
              </a:rPr>
              <a:t>}}</a:t>
            </a:r>
          </a:p>
        </p:txBody>
      </p:sp>
      <p:sp>
        <p:nvSpPr>
          <p:cNvPr id="11" name="Text 27">
            <a:extLst>
              <a:ext uri="{FF2B5EF4-FFF2-40B4-BE49-F238E27FC236}">
                <a16:creationId xmlns:a16="http://schemas.microsoft.com/office/drawing/2014/main" id="{70FE15C1-BC0D-49B2-7905-4CD52D904F9B}"/>
              </a:ext>
            </a:extLst>
          </p:cNvPr>
          <p:cNvSpPr/>
          <p:nvPr/>
        </p:nvSpPr>
        <p:spPr>
          <a:xfrm>
            <a:off x="12995755" y="3259384"/>
            <a:ext cx="4701600" cy="488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Commentary</a:t>
            </a:r>
            <a:endParaRPr lang="en-US" sz="2400" b="1" dirty="0">
              <a:latin typeface="DM Sans 14pt" pitchFamily="2" charset="77"/>
            </a:endParaRPr>
          </a:p>
        </p:txBody>
      </p:sp>
      <p:sp>
        <p:nvSpPr>
          <p:cNvPr id="17" name="Shape 28">
            <a:extLst>
              <a:ext uri="{FF2B5EF4-FFF2-40B4-BE49-F238E27FC236}">
                <a16:creationId xmlns:a16="http://schemas.microsoft.com/office/drawing/2014/main" id="{B7AF4DB2-7C41-050E-697B-5216A358A2F4}"/>
              </a:ext>
            </a:extLst>
          </p:cNvPr>
          <p:cNvSpPr/>
          <p:nvPr/>
        </p:nvSpPr>
        <p:spPr>
          <a:xfrm>
            <a:off x="12995755" y="3748249"/>
            <a:ext cx="4701600" cy="5606765"/>
          </a:xfrm>
          <a:prstGeom prst="roundRect">
            <a:avLst>
              <a:gd name="adj" fmla="val 3000"/>
            </a:avLst>
          </a:prstGeom>
          <a:solidFill>
            <a:srgbClr val="643791">
              <a:alpha val="8000"/>
            </a:srgbClr>
          </a:solidFill>
          <a:ln/>
        </p:spPr>
        <p:txBody>
          <a:bodyPr/>
          <a:lstStyle/>
          <a:p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</a:t>
            </a:r>
            <a:r>
              <a:rPr lang="en-US" sz="1400" dirty="0" err="1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commentary_media</a:t>
            </a:r>
            <a:r>
              <a:rPr lang="en-US" sz="1400" err="1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_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intro}}</a:t>
            </a:r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{{commentary_media_point_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1}}</a:t>
            </a:r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{{commentary_media_point_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2}}</a:t>
            </a:r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{{commentary_media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_point</a:t>
            </a:r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_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3}}</a:t>
            </a:r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A3FDBDA-115A-7530-8F64-C5DB8568FE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526" y="636516"/>
            <a:ext cx="1411947" cy="2667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26E165-E00F-870D-BB38-47E21D4E15CC}"/>
              </a:ext>
            </a:extLst>
          </p:cNvPr>
          <p:cNvSpPr txBox="1"/>
          <p:nvPr/>
        </p:nvSpPr>
        <p:spPr>
          <a:xfrm>
            <a:off x="15604114" y="9742289"/>
            <a:ext cx="2074286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{{</a:t>
            </a:r>
            <a:r>
              <a:rPr sz="1000" dirty="0" err="1">
                <a:solidFill>
                  <a:srgbClr val="5B5067"/>
                </a:solidFill>
                <a:latin typeface="DM Sans 14pt" pitchFamily="2" charset="77"/>
              </a:rPr>
              <a:t>slide_number</a:t>
            </a:r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}} / {{</a:t>
            </a:r>
            <a:r>
              <a:rPr sz="1000" dirty="0" err="1">
                <a:solidFill>
                  <a:srgbClr val="5B5067"/>
                </a:solidFill>
                <a:latin typeface="DM Sans 14pt" pitchFamily="2" charset="77"/>
              </a:rPr>
              <a:t>total_slides</a:t>
            </a:r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}}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670D26-8BA5-21C4-1A59-27143FDA37AC}"/>
              </a:ext>
            </a:extLst>
          </p:cNvPr>
          <p:cNvSpPr txBox="1"/>
          <p:nvPr/>
        </p:nvSpPr>
        <p:spPr>
          <a:xfrm>
            <a:off x="609600" y="9742289"/>
            <a:ext cx="230031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dirty="0">
                <a:solidFill>
                  <a:srgbClr val="643791"/>
                </a:solidFill>
                <a:latin typeface="DM Sans 14pt" pitchFamily="2" charset="77"/>
              </a:rPr>
              <a:t>Jobs Go Public  ·  Go place</a:t>
            </a:r>
            <a:r>
              <a:rPr lang="en-GB" sz="1000" dirty="0">
                <a:solidFill>
                  <a:srgbClr val="643791"/>
                </a:solidFill>
                <a:latin typeface="DM Sans 14pt" pitchFamily="2" charset="77"/>
              </a:rPr>
              <a:t>s</a:t>
            </a:r>
            <a:r>
              <a:rPr sz="1000" dirty="0">
                <a:solidFill>
                  <a:srgbClr val="643791"/>
                </a:solidFill>
                <a:latin typeface="DM Sans 14pt" pitchFamily="2" charset="77"/>
              </a:rPr>
              <a:t>. Go public.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3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3B3652-5682-030C-16C8-859667E66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B9084D09-BE08-E661-5616-7526A3AD2A01}"/>
              </a:ext>
            </a:extLst>
          </p:cNvPr>
          <p:cNvSpPr/>
          <p:nvPr/>
        </p:nvSpPr>
        <p:spPr>
          <a:xfrm>
            <a:off x="762000" y="1047750"/>
            <a:ext cx="9460629" cy="6477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800" b="1" kern="0" spc="-144" dirty="0">
                <a:solidFill>
                  <a:srgbClr val="11111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Your salaries benchmarked</a:t>
            </a:r>
            <a:endParaRPr lang="en-US" sz="4800" dirty="0">
              <a:latin typeface="DM Sans 14pt" pitchFamily="2" charset="77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E718164-87F5-1C17-3C8C-7615C2BF65BC}"/>
              </a:ext>
            </a:extLst>
          </p:cNvPr>
          <p:cNvSpPr/>
          <p:nvPr/>
        </p:nvSpPr>
        <p:spPr>
          <a:xfrm>
            <a:off x="977462" y="2486027"/>
            <a:ext cx="11350567" cy="6626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endParaRPr lang="en-US" sz="1650" dirty="0">
              <a:latin typeface="DM Sans 14pt" pitchFamily="2" charset="77"/>
            </a:endParaRPr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BE3C597C-B529-9D9E-3C0F-A3121FDAF6B4}"/>
              </a:ext>
            </a:extLst>
          </p:cNvPr>
          <p:cNvSpPr/>
          <p:nvPr/>
        </p:nvSpPr>
        <p:spPr>
          <a:xfrm>
            <a:off x="12995755" y="575051"/>
            <a:ext cx="4703047" cy="280800"/>
          </a:xfrm>
          <a:prstGeom prst="rect">
            <a:avLst/>
          </a:prstGeom>
          <a:noFill/>
          <a:ln>
            <a:noFill/>
          </a:ln>
        </p:spPr>
        <p:txBody>
          <a:bodyPr wrap="square" lIns="25400" tIns="25400" rIns="25400" bIns="25400" rtlCol="0" anchor="t">
            <a:normAutofit/>
          </a:bodyPr>
          <a:lstStyle/>
          <a:p>
            <a:pPr algn="r"/>
            <a:r>
              <a:rPr lang="en-US" sz="1200" kern="0" spc="42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06 · SALARY BENCHMARK</a:t>
            </a:r>
            <a:endParaRPr lang="en-US" sz="1200" dirty="0">
              <a:latin typeface="DM Sans 14pt" pitchFamily="2" charset="77"/>
            </a:endParaRPr>
          </a:p>
        </p:txBody>
      </p:sp>
      <p:sp>
        <p:nvSpPr>
          <p:cNvPr id="13" name="Shape 19">
            <a:extLst>
              <a:ext uri="{FF2B5EF4-FFF2-40B4-BE49-F238E27FC236}">
                <a16:creationId xmlns:a16="http://schemas.microsoft.com/office/drawing/2014/main" id="{95A19A90-8ED4-8C19-01E3-E847C853A5DA}"/>
              </a:ext>
            </a:extLst>
          </p:cNvPr>
          <p:cNvSpPr/>
          <p:nvPr/>
        </p:nvSpPr>
        <p:spPr>
          <a:xfrm>
            <a:off x="762000" y="1866900"/>
            <a:ext cx="11945938" cy="7481190"/>
          </a:xfrm>
          <a:prstGeom prst="roundRect">
            <a:avLst>
              <a:gd name="adj" fmla="val 2331"/>
            </a:avLst>
          </a:prstGeom>
          <a:noFill/>
          <a:ln w="19050">
            <a:noFill/>
            <a:prstDash val="dash"/>
          </a:ln>
        </p:spPr>
        <p:txBody>
          <a:bodyPr/>
          <a:lstStyle/>
          <a:p>
            <a:endParaRPr lang="en-GB" dirty="0">
              <a:latin typeface="DM Sans 14pt" pitchFamily="2" charset="77"/>
            </a:endParaRPr>
          </a:p>
        </p:txBody>
      </p:sp>
      <p:sp>
        <p:nvSpPr>
          <p:cNvPr id="14" name="Shape 23">
            <a:extLst>
              <a:ext uri="{FF2B5EF4-FFF2-40B4-BE49-F238E27FC236}">
                <a16:creationId xmlns:a16="http://schemas.microsoft.com/office/drawing/2014/main" id="{7E6276C6-75CF-5427-234E-A6B95AFAA899}"/>
              </a:ext>
            </a:extLst>
          </p:cNvPr>
          <p:cNvSpPr/>
          <p:nvPr/>
        </p:nvSpPr>
        <p:spPr>
          <a:xfrm>
            <a:off x="868675" y="2292129"/>
            <a:ext cx="11727314" cy="6951522"/>
          </a:xfrm>
          <a:prstGeom prst="roundRect">
            <a:avLst>
              <a:gd name="adj" fmla="val 0"/>
            </a:avLst>
          </a:prstGeom>
          <a:noFill/>
          <a:ln w="9525">
            <a:noFill/>
            <a:prstDash val="solid"/>
          </a:ln>
        </p:spPr>
        <p:txBody>
          <a:bodyPr/>
          <a:lstStyle/>
          <a:p>
            <a:r>
              <a:rPr lang="en-US" kern="0" spc="30" dirty="0">
                <a:solidFill>
                  <a:srgbClr val="240F45"/>
                </a:solidFill>
                <a:latin typeface="DM Sans 14pt" pitchFamily="2" charset="77"/>
                <a:ea typeface="monospace" pitchFamily="34" charset="-122"/>
              </a:rPr>
              <a:t>{{</a:t>
            </a:r>
            <a:r>
              <a:rPr lang="en-US" kern="0" spc="30" dirty="0" err="1">
                <a:solidFill>
                  <a:srgbClr val="240F45"/>
                </a:solidFill>
                <a:latin typeface="DM Sans 14pt" pitchFamily="2" charset="77"/>
                <a:ea typeface="monospace" pitchFamily="34" charset="-122"/>
              </a:rPr>
              <a:t>chart:salary_by_occupation</a:t>
            </a:r>
            <a:r>
              <a:rPr lang="en-US" kern="0" spc="30" dirty="0">
                <a:solidFill>
                  <a:srgbClr val="240F45"/>
                </a:solidFill>
                <a:latin typeface="DM Sans 14pt" pitchFamily="2" charset="77"/>
                <a:ea typeface="monospace" pitchFamily="34" charset="-122"/>
              </a:rPr>
              <a:t>}}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941C27-1F22-6A0D-3C82-2FA9F1BC078A}"/>
              </a:ext>
            </a:extLst>
          </p:cNvPr>
          <p:cNvSpPr/>
          <p:nvPr/>
        </p:nvSpPr>
        <p:spPr>
          <a:xfrm>
            <a:off x="762001" y="1866899"/>
            <a:ext cx="11945938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kern="0" spc="84" dirty="0">
                <a:solidFill>
                  <a:srgbClr val="111111">
                    <a:alpha val="63000"/>
                  </a:srgbClr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Top 10 occupations · salary benchmark</a:t>
            </a:r>
            <a:endParaRPr lang="en-US" dirty="0">
              <a:latin typeface="DM Sans 14pt" pitchFamily="2" charset="77"/>
            </a:endParaRPr>
          </a:p>
        </p:txBody>
      </p:sp>
      <p:sp>
        <p:nvSpPr>
          <p:cNvPr id="11" name="Text 27">
            <a:extLst>
              <a:ext uri="{FF2B5EF4-FFF2-40B4-BE49-F238E27FC236}">
                <a16:creationId xmlns:a16="http://schemas.microsoft.com/office/drawing/2014/main" id="{D6A29D89-A77D-0FD1-BDAA-9F510BFB5E88}"/>
              </a:ext>
            </a:extLst>
          </p:cNvPr>
          <p:cNvSpPr/>
          <p:nvPr/>
        </p:nvSpPr>
        <p:spPr>
          <a:xfrm>
            <a:off x="12995755" y="3259384"/>
            <a:ext cx="4701600" cy="488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kern="0" spc="0" dirty="0">
                <a:solidFill>
                  <a:srgbClr val="643791"/>
                </a:solidFill>
                <a:latin typeface="DM Sans 14pt" pitchFamily="2" charset="77"/>
                <a:ea typeface="Arial" pitchFamily="34" charset="-122"/>
                <a:cs typeface="Arial" pitchFamily="34" charset="-120"/>
              </a:rPr>
              <a:t>Commentary</a:t>
            </a:r>
            <a:endParaRPr lang="en-US" sz="2400" b="1" dirty="0">
              <a:latin typeface="DM Sans 14pt" pitchFamily="2" charset="77"/>
            </a:endParaRPr>
          </a:p>
        </p:txBody>
      </p:sp>
      <p:sp>
        <p:nvSpPr>
          <p:cNvPr id="17" name="Shape 28">
            <a:extLst>
              <a:ext uri="{FF2B5EF4-FFF2-40B4-BE49-F238E27FC236}">
                <a16:creationId xmlns:a16="http://schemas.microsoft.com/office/drawing/2014/main" id="{D26B6FB8-984A-C032-5326-B6B169C26EFB}"/>
              </a:ext>
            </a:extLst>
          </p:cNvPr>
          <p:cNvSpPr/>
          <p:nvPr/>
        </p:nvSpPr>
        <p:spPr>
          <a:xfrm>
            <a:off x="12995755" y="3748249"/>
            <a:ext cx="4701600" cy="5606765"/>
          </a:xfrm>
          <a:prstGeom prst="roundRect">
            <a:avLst>
              <a:gd name="adj" fmla="val 3000"/>
            </a:avLst>
          </a:prstGeom>
          <a:solidFill>
            <a:srgbClr val="643791">
              <a:alpha val="8000"/>
            </a:srgbClr>
          </a:solidFill>
          <a:ln/>
        </p:spPr>
        <p:txBody>
          <a:bodyPr/>
          <a:lstStyle/>
          <a:p>
            <a:r>
              <a:rPr lang="en-GB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</a:t>
            </a:r>
            <a:r>
              <a:rPr lang="en-GB" sz="1400" dirty="0" err="1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commentary_salary_</a:t>
            </a:r>
            <a:r>
              <a:rPr lang="en-GB" sz="1400" err="1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intro</a:t>
            </a:r>
            <a:r>
              <a:rPr lang="en-GB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}}</a:t>
            </a:r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{{commentary</a:t>
            </a:r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_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salary_</a:t>
            </a:r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point_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1}}</a:t>
            </a:r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{{commentary_</a:t>
            </a:r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 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salary _</a:t>
            </a:r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point_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2}}</a:t>
            </a:r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  <a:p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{{commentary_</a:t>
            </a:r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 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salary _</a:t>
            </a:r>
            <a:r>
              <a:rPr lang="en-US" sz="1400" dirty="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point</a:t>
            </a:r>
            <a:r>
              <a:rPr lang="en-US" sz="1400">
                <a:solidFill>
                  <a:srgbClr val="643791"/>
                </a:solidFill>
                <a:latin typeface="DM Sans 14pt" pitchFamily="2" charset="77"/>
                <a:cs typeface="Arial" pitchFamily="34" charset="-120"/>
              </a:rPr>
              <a:t>_3}}</a:t>
            </a:r>
            <a:endParaRPr lang="en-US" sz="1400" dirty="0">
              <a:solidFill>
                <a:srgbClr val="643791"/>
              </a:solidFill>
              <a:latin typeface="DM Sans 14pt" pitchFamily="2" charset="77"/>
              <a:cs typeface="Arial" pitchFamily="34" charset="-12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778C7FD-1E3C-944F-E0A7-B245878908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5526" y="636516"/>
            <a:ext cx="1411947" cy="2667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015491-0A5D-58E5-39FF-A4F677A5A14B}"/>
              </a:ext>
            </a:extLst>
          </p:cNvPr>
          <p:cNvSpPr txBox="1"/>
          <p:nvPr/>
        </p:nvSpPr>
        <p:spPr>
          <a:xfrm>
            <a:off x="15604114" y="9742289"/>
            <a:ext cx="2074286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{{</a:t>
            </a:r>
            <a:r>
              <a:rPr sz="1000" dirty="0" err="1">
                <a:solidFill>
                  <a:srgbClr val="5B5067"/>
                </a:solidFill>
                <a:latin typeface="DM Sans 14pt" pitchFamily="2" charset="77"/>
              </a:rPr>
              <a:t>slide_number</a:t>
            </a:r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}} / {{</a:t>
            </a:r>
            <a:r>
              <a:rPr sz="1000" dirty="0" err="1">
                <a:solidFill>
                  <a:srgbClr val="5B5067"/>
                </a:solidFill>
                <a:latin typeface="DM Sans 14pt" pitchFamily="2" charset="77"/>
              </a:rPr>
              <a:t>total_slides</a:t>
            </a:r>
            <a:r>
              <a:rPr sz="1000" dirty="0">
                <a:solidFill>
                  <a:srgbClr val="5B5067"/>
                </a:solidFill>
                <a:latin typeface="DM Sans 14pt" pitchFamily="2" charset="77"/>
              </a:rPr>
              <a:t>}}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248B02-72B6-C207-06BB-460FC373AAD1}"/>
              </a:ext>
            </a:extLst>
          </p:cNvPr>
          <p:cNvSpPr txBox="1"/>
          <p:nvPr/>
        </p:nvSpPr>
        <p:spPr>
          <a:xfrm>
            <a:off x="609600" y="9742289"/>
            <a:ext cx="230031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dirty="0">
                <a:solidFill>
                  <a:srgbClr val="643791"/>
                </a:solidFill>
                <a:latin typeface="DM Sans 14pt" pitchFamily="2" charset="77"/>
              </a:rPr>
              <a:t>Jobs Go Public  ·  Go place</a:t>
            </a:r>
            <a:r>
              <a:rPr lang="en-GB" sz="1000" dirty="0">
                <a:solidFill>
                  <a:srgbClr val="643791"/>
                </a:solidFill>
                <a:latin typeface="DM Sans 14pt" pitchFamily="2" charset="77"/>
              </a:rPr>
              <a:t>s</a:t>
            </a:r>
            <a:r>
              <a:rPr sz="1000" dirty="0">
                <a:solidFill>
                  <a:srgbClr val="643791"/>
                </a:solidFill>
                <a:latin typeface="DM Sans 14pt" pitchFamily="2" charset="77"/>
              </a:rPr>
              <a:t>. Go public.</a:t>
            </a:r>
          </a:p>
        </p:txBody>
      </p:sp>
      <p:sp>
        <p:nvSpPr>
          <p:cNvPr id="18" name="Shape 28">
            <a:extLst>
              <a:ext uri="{FF2B5EF4-FFF2-40B4-BE49-F238E27FC236}">
                <a16:creationId xmlns:a16="http://schemas.microsoft.com/office/drawing/2014/main" id="{89503F25-6B7E-4BFC-DCC1-692D95994A47}"/>
              </a:ext>
            </a:extLst>
          </p:cNvPr>
          <p:cNvSpPr/>
          <p:nvPr/>
        </p:nvSpPr>
        <p:spPr>
          <a:xfrm>
            <a:off x="12995755" y="1866899"/>
            <a:ext cx="4701600" cy="1188000"/>
          </a:xfrm>
          <a:prstGeom prst="roundRect">
            <a:avLst>
              <a:gd name="adj" fmla="val 6000"/>
            </a:avLst>
          </a:prstGeom>
          <a:solidFill>
            <a:srgbClr val="643791">
              <a:alpha val="8000"/>
            </a:srgbClr>
          </a:solidFill>
          <a:ln/>
        </p:spPr>
        <p:txBody>
          <a:bodyPr/>
          <a:lstStyle/>
          <a:p>
            <a:r>
              <a:rPr lang="en-GB" sz="1400" dirty="0">
                <a:solidFill>
                  <a:srgbClr val="643791"/>
                </a:solidFill>
                <a:latin typeface="DM Sans 14pt" pitchFamily="2" charset="77"/>
              </a:rPr>
              <a:t>{{</a:t>
            </a:r>
            <a:r>
              <a:rPr lang="en-GB" sz="1400" dirty="0" err="1">
                <a:solidFill>
                  <a:srgbClr val="643791"/>
                </a:solidFill>
                <a:latin typeface="DM Sans 14pt" pitchFamily="2" charset="77"/>
              </a:rPr>
              <a:t>chart_explainer_salary_by_occupation</a:t>
            </a:r>
            <a:r>
              <a:rPr lang="en-GB" sz="1400" dirty="0">
                <a:solidFill>
                  <a:srgbClr val="643791"/>
                </a:solidFill>
                <a:latin typeface="DM Sans 14pt" pitchFamily="2" charset="77"/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2483968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437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762000" y="1143000"/>
            <a:ext cx="164820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0" dirty="0">
                <a:solidFill>
                  <a:srgbClr val="E5FF6E"/>
                </a:solidFill>
                <a:latin typeface="DM Sans"/>
                <a:ea typeface="Arial" pitchFamily="34" charset="-122"/>
                <a:cs typeface="Arial" pitchFamily="34" charset="-120"/>
              </a:rPr>
              <a:t>Get in touch</a:t>
            </a:r>
            <a:endParaRPr lang="en-US" sz="1200" dirty="0">
              <a:latin typeface="DM San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1695450"/>
            <a:ext cx="13735050" cy="312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500" b="1" kern="0" spc="-540" dirty="0">
                <a:solidFill>
                  <a:srgbClr val="FFFFFF"/>
                </a:solidFill>
                <a:latin typeface="DM Sans"/>
                <a:ea typeface="Arial" pitchFamily="34" charset="-122"/>
                <a:cs typeface="Arial" pitchFamily="34" charset="-120"/>
              </a:rPr>
              <a:t>Let's talk </a:t>
            </a:r>
            <a:r>
              <a:rPr lang="en-US" sz="13500" b="1" kern="0" spc="-540" dirty="0">
                <a:solidFill>
                  <a:srgbClr val="E5FF6E"/>
                </a:solidFill>
                <a:latin typeface="DM Sans"/>
                <a:ea typeface="Arial" pitchFamily="34" charset="-122"/>
                <a:cs typeface="Arial" pitchFamily="34" charset="-120"/>
              </a:rPr>
              <a:t>what's next</a:t>
            </a:r>
            <a:endParaRPr lang="en-US" sz="13500" dirty="0">
              <a:latin typeface="DM San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09600" y="9734550"/>
            <a:ext cx="288190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0" dirty="0">
                <a:solidFill>
                  <a:srgbClr val="E5FF6E"/>
                </a:solidFill>
                <a:latin typeface="DM Sans"/>
                <a:ea typeface="Arial" pitchFamily="34" charset="-122"/>
                <a:cs typeface="Arial" pitchFamily="34" charset="-120"/>
              </a:rPr>
              <a:t>Go places. Go public.</a:t>
            </a:r>
            <a:endParaRPr lang="en-US" sz="1200" dirty="0">
              <a:latin typeface="DM Sans"/>
            </a:endParaRPr>
          </a:p>
        </p:txBody>
      </p:sp>
      <p:sp>
        <p:nvSpPr>
          <p:cNvPr id="26" name="Shape 5">
            <a:extLst>
              <a:ext uri="{FF2B5EF4-FFF2-40B4-BE49-F238E27FC236}">
                <a16:creationId xmlns:a16="http://schemas.microsoft.com/office/drawing/2014/main" id="{9DDC85A7-AB8B-D8AC-56B5-4A857EACA061}"/>
              </a:ext>
            </a:extLst>
          </p:cNvPr>
          <p:cNvSpPr/>
          <p:nvPr/>
        </p:nvSpPr>
        <p:spPr>
          <a:xfrm>
            <a:off x="762001" y="7321200"/>
            <a:ext cx="13848182" cy="1980000"/>
          </a:xfrm>
          <a:prstGeom prst="roundRect">
            <a:avLst>
              <a:gd name="adj" fmla="val 9399"/>
            </a:avLst>
          </a:prstGeom>
          <a:solidFill>
            <a:srgbClr val="E8E0F2">
              <a:alpha val="15000"/>
            </a:srgbClr>
          </a:solidFill>
          <a:ln/>
        </p:spPr>
        <p:txBody>
          <a:bodyPr/>
          <a:lstStyle/>
          <a:p>
            <a:endParaRPr lang="en-GB">
              <a:solidFill>
                <a:srgbClr val="F1F3E2"/>
              </a:solidFill>
              <a:latin typeface="DM Sans"/>
            </a:endParaRPr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834C1E1C-41FB-F94B-831B-06824C51B72D}"/>
              </a:ext>
            </a:extLst>
          </p:cNvPr>
          <p:cNvSpPr/>
          <p:nvPr/>
        </p:nvSpPr>
        <p:spPr>
          <a:xfrm>
            <a:off x="1031999" y="7861193"/>
            <a:ext cx="6125497" cy="540990"/>
          </a:xfrm>
          <a:prstGeom prst="roundRect">
            <a:avLst>
              <a:gd name="adj" fmla="val 15242"/>
            </a:avLst>
          </a:prstGeom>
          <a:solidFill>
            <a:srgbClr val="643791"/>
          </a:solidFill>
          <a:ln/>
        </p:spPr>
        <p:txBody>
          <a:bodyPr anchor="ctr"/>
          <a:lstStyle/>
          <a:p>
            <a:r>
              <a:rPr lang="en-US" kern="0" spc="-72" dirty="0">
                <a:solidFill>
                  <a:srgbClr val="F1F3E2"/>
                </a:solidFill>
                <a:latin typeface="DM Sans"/>
                <a:ea typeface="Arial" pitchFamily="34" charset="-122"/>
                <a:cs typeface="Arial" pitchFamily="34" charset="-120"/>
              </a:rPr>
              <a:t>{{</a:t>
            </a:r>
            <a:r>
              <a:rPr lang="en-US" kern="0" spc="-72" dirty="0" err="1">
                <a:solidFill>
                  <a:srgbClr val="F1F3E2"/>
                </a:solidFill>
                <a:latin typeface="DM Sans"/>
                <a:ea typeface="Arial" pitchFamily="34" charset="-122"/>
                <a:cs typeface="Arial" pitchFamily="34" charset="-120"/>
              </a:rPr>
              <a:t>contact_name</a:t>
            </a:r>
            <a:r>
              <a:rPr lang="en-US" kern="0" spc="-72" dirty="0">
                <a:solidFill>
                  <a:srgbClr val="F1F3E2"/>
                </a:solidFill>
                <a:latin typeface="DM Sans"/>
                <a:ea typeface="Arial" pitchFamily="34" charset="-122"/>
                <a:cs typeface="Arial" pitchFamily="34" charset="-120"/>
              </a:rPr>
              <a:t>}}</a:t>
            </a:r>
            <a:endParaRPr lang="en-US" dirty="0">
              <a:solidFill>
                <a:srgbClr val="F1F3E2"/>
              </a:solidFill>
              <a:latin typeface="DM Sans"/>
            </a:endParaRPr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E2CDD09A-BBE0-9B80-19BA-A1CB90EBDD42}"/>
              </a:ext>
            </a:extLst>
          </p:cNvPr>
          <p:cNvSpPr/>
          <p:nvPr/>
        </p:nvSpPr>
        <p:spPr>
          <a:xfrm>
            <a:off x="1031999" y="8491200"/>
            <a:ext cx="6125497" cy="540000"/>
          </a:xfrm>
          <a:prstGeom prst="roundRect">
            <a:avLst>
              <a:gd name="adj" fmla="val 15385"/>
            </a:avLst>
          </a:prstGeom>
          <a:solidFill>
            <a:srgbClr val="643791"/>
          </a:solidFill>
          <a:ln/>
        </p:spPr>
        <p:txBody>
          <a:bodyPr anchor="ctr"/>
          <a:lstStyle/>
          <a:p>
            <a:r>
              <a:rPr lang="en-US" sz="1400" dirty="0">
                <a:solidFill>
                  <a:srgbClr val="F1F3E2"/>
                </a:solidFill>
                <a:latin typeface="DM Sans"/>
                <a:ea typeface="Arial" pitchFamily="34" charset="-122"/>
                <a:cs typeface="Arial" pitchFamily="34" charset="-120"/>
              </a:rPr>
              <a:t>{{</a:t>
            </a:r>
            <a:r>
              <a:rPr lang="en-US" sz="1400" dirty="0" err="1">
                <a:solidFill>
                  <a:srgbClr val="F1F3E2"/>
                </a:solidFill>
                <a:latin typeface="DM Sans"/>
                <a:ea typeface="Arial" pitchFamily="34" charset="-122"/>
                <a:cs typeface="Arial" pitchFamily="34" charset="-120"/>
              </a:rPr>
              <a:t>contact_title</a:t>
            </a:r>
            <a:r>
              <a:rPr lang="en-US" sz="1400" dirty="0">
                <a:solidFill>
                  <a:srgbClr val="F1F3E2"/>
                </a:solidFill>
                <a:latin typeface="DM Sans"/>
                <a:ea typeface="Arial" pitchFamily="34" charset="-122"/>
                <a:cs typeface="Arial" pitchFamily="34" charset="-120"/>
              </a:rPr>
              <a:t>}}</a:t>
            </a:r>
            <a:endParaRPr lang="en-US" sz="1400" dirty="0">
              <a:solidFill>
                <a:srgbClr val="F1F3E2"/>
              </a:solidFill>
              <a:latin typeface="DM Sans"/>
            </a:endParaRPr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6B036337-E8CE-F66E-FA10-BAD6FC17A546}"/>
              </a:ext>
            </a:extLst>
          </p:cNvPr>
          <p:cNvSpPr/>
          <p:nvPr/>
        </p:nvSpPr>
        <p:spPr>
          <a:xfrm>
            <a:off x="8220183" y="7861688"/>
            <a:ext cx="6120000" cy="540000"/>
          </a:xfrm>
          <a:prstGeom prst="roundRect">
            <a:avLst>
              <a:gd name="adj" fmla="val 14191"/>
            </a:avLst>
          </a:prstGeom>
          <a:solidFill>
            <a:srgbClr val="643791"/>
          </a:solidFill>
          <a:ln/>
        </p:spPr>
        <p:txBody>
          <a:bodyPr anchor="ctr"/>
          <a:lstStyle/>
          <a:p>
            <a:r>
              <a:rPr lang="en-US" sz="1400" dirty="0">
                <a:solidFill>
                  <a:srgbClr val="F1F3E2"/>
                </a:solidFill>
                <a:latin typeface="DM Sans"/>
                <a:ea typeface="Arial" pitchFamily="34" charset="-122"/>
                <a:cs typeface="Arial" pitchFamily="34" charset="-120"/>
              </a:rPr>
              <a:t>{{</a:t>
            </a:r>
            <a:r>
              <a:rPr lang="en-US" sz="1400" dirty="0" err="1">
                <a:solidFill>
                  <a:srgbClr val="F1F3E2"/>
                </a:solidFill>
                <a:latin typeface="DM Sans"/>
                <a:ea typeface="Arial" pitchFamily="34" charset="-122"/>
                <a:cs typeface="Arial" pitchFamily="34" charset="-120"/>
              </a:rPr>
              <a:t>contact_email</a:t>
            </a:r>
            <a:r>
              <a:rPr lang="en-US" sz="1400" dirty="0">
                <a:solidFill>
                  <a:srgbClr val="F1F3E2"/>
                </a:solidFill>
                <a:latin typeface="DM Sans"/>
                <a:ea typeface="Arial" pitchFamily="34" charset="-122"/>
                <a:cs typeface="Arial" pitchFamily="34" charset="-120"/>
              </a:rPr>
              <a:t>}}</a:t>
            </a:r>
            <a:endParaRPr lang="en-US" sz="1400" dirty="0">
              <a:solidFill>
                <a:srgbClr val="F1F3E2"/>
              </a:solidFill>
              <a:latin typeface="DM Sans"/>
            </a:endParaRPr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383090B5-315A-B7DE-6DD5-21C27C77FB75}"/>
              </a:ext>
            </a:extLst>
          </p:cNvPr>
          <p:cNvSpPr/>
          <p:nvPr/>
        </p:nvSpPr>
        <p:spPr>
          <a:xfrm>
            <a:off x="8220181" y="8491200"/>
            <a:ext cx="6120000" cy="540000"/>
          </a:xfrm>
          <a:prstGeom prst="roundRect">
            <a:avLst>
              <a:gd name="adj" fmla="val 14191"/>
            </a:avLst>
          </a:prstGeom>
          <a:solidFill>
            <a:srgbClr val="643791"/>
          </a:solidFill>
          <a:ln/>
        </p:spPr>
        <p:txBody>
          <a:bodyPr anchor="ctr"/>
          <a:lstStyle/>
          <a:p>
            <a:r>
              <a:rPr lang="en-US" sz="1400" dirty="0">
                <a:solidFill>
                  <a:srgbClr val="F1F3E2"/>
                </a:solidFill>
                <a:latin typeface="DM Sans"/>
                <a:ea typeface="Arial" pitchFamily="34" charset="-122"/>
                <a:cs typeface="Arial" pitchFamily="34" charset="-120"/>
              </a:rPr>
              <a:t>{{</a:t>
            </a:r>
            <a:r>
              <a:rPr lang="en-US" sz="1400" dirty="0" err="1">
                <a:solidFill>
                  <a:srgbClr val="F1F3E2"/>
                </a:solidFill>
                <a:latin typeface="DM Sans"/>
                <a:ea typeface="Arial" pitchFamily="34" charset="-122"/>
                <a:cs typeface="Arial" pitchFamily="34" charset="-120"/>
              </a:rPr>
              <a:t>contact_phone</a:t>
            </a:r>
            <a:r>
              <a:rPr lang="en-US" sz="1400" dirty="0">
                <a:solidFill>
                  <a:srgbClr val="F1F3E2"/>
                </a:solidFill>
                <a:latin typeface="DM Sans"/>
                <a:ea typeface="Arial" pitchFamily="34" charset="-122"/>
                <a:cs typeface="Arial" pitchFamily="34" charset="-120"/>
              </a:rPr>
              <a:t>}}</a:t>
            </a:r>
            <a:endParaRPr lang="en-US" sz="1400" dirty="0">
              <a:solidFill>
                <a:srgbClr val="F1F3E2"/>
              </a:solidFill>
              <a:latin typeface="DM Sans"/>
            </a:endParaRPr>
          </a:p>
        </p:txBody>
      </p:sp>
      <p:pic>
        <p:nvPicPr>
          <p:cNvPr id="34" name="Picture 33" descr="jobs-go-public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6250"/>
            <a:ext cx="1700000" cy="587234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59F2F35D-90C9-FD32-A7AB-1710DFE8287C}"/>
              </a:ext>
            </a:extLst>
          </p:cNvPr>
          <p:cNvSpPr/>
          <p:nvPr/>
        </p:nvSpPr>
        <p:spPr>
          <a:xfrm>
            <a:off x="1031997" y="7588575"/>
            <a:ext cx="6125497" cy="183600"/>
          </a:xfrm>
          <a:prstGeom prst="roundRect">
            <a:avLst>
              <a:gd name="adj" fmla="val 15242"/>
            </a:avLst>
          </a:prstGeom>
          <a:noFill/>
          <a:ln/>
        </p:spPr>
        <p:txBody>
          <a:bodyPr lIns="0" tIns="0" rIns="0" bIns="0" anchor="ctr"/>
          <a:lstStyle/>
          <a:p>
            <a:r>
              <a:rPr lang="en-US" sz="1200" kern="0" spc="-72" dirty="0">
                <a:solidFill>
                  <a:srgbClr val="F1F3E2"/>
                </a:solidFill>
                <a:latin typeface="DM Sans"/>
                <a:ea typeface="Arial" pitchFamily="34" charset="-122"/>
                <a:cs typeface="Arial" pitchFamily="34" charset="-120"/>
              </a:rPr>
              <a:t>Your account team</a:t>
            </a:r>
            <a:endParaRPr lang="en-US" sz="1200" dirty="0">
              <a:solidFill>
                <a:srgbClr val="F1F3E2"/>
              </a:solidFill>
              <a:latin typeface="DM San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070D7FB-E231-B2B0-5E68-612A62C6F270}"/>
              </a:ext>
            </a:extLst>
          </p:cNvPr>
          <p:cNvSpPr/>
          <p:nvPr/>
        </p:nvSpPr>
        <p:spPr>
          <a:xfrm>
            <a:off x="7607822" y="8669400"/>
            <a:ext cx="648000" cy="183600"/>
          </a:xfrm>
          <a:prstGeom prst="roundRect">
            <a:avLst>
              <a:gd name="adj" fmla="val 15242"/>
            </a:avLst>
          </a:prstGeom>
          <a:noFill/>
          <a:ln/>
        </p:spPr>
        <p:txBody>
          <a:bodyPr lIns="0" tIns="0" rIns="0" bIns="0" anchor="ctr"/>
          <a:lstStyle/>
          <a:p>
            <a:r>
              <a:rPr lang="en-US" sz="1050" kern="0" spc="-72" dirty="0">
                <a:solidFill>
                  <a:srgbClr val="F1F3E2"/>
                </a:solidFill>
                <a:latin typeface="DM Sans"/>
                <a:ea typeface="Arial" pitchFamily="34" charset="-122"/>
                <a:cs typeface="Arial" pitchFamily="34" charset="-120"/>
              </a:rPr>
              <a:t>Phone</a:t>
            </a:r>
            <a:endParaRPr lang="en-US" sz="1050" dirty="0">
              <a:solidFill>
                <a:srgbClr val="F1F3E2"/>
              </a:solidFill>
              <a:latin typeface="DM Sans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D5ACD12-4E39-87BB-2919-FD6CB79325C6}"/>
              </a:ext>
            </a:extLst>
          </p:cNvPr>
          <p:cNvSpPr/>
          <p:nvPr/>
        </p:nvSpPr>
        <p:spPr>
          <a:xfrm>
            <a:off x="7629525" y="8039888"/>
            <a:ext cx="648000" cy="183600"/>
          </a:xfrm>
          <a:prstGeom prst="roundRect">
            <a:avLst>
              <a:gd name="adj" fmla="val 15242"/>
            </a:avLst>
          </a:prstGeom>
          <a:noFill/>
          <a:ln/>
        </p:spPr>
        <p:txBody>
          <a:bodyPr lIns="0" tIns="0" rIns="0" bIns="0" anchor="ctr"/>
          <a:lstStyle/>
          <a:p>
            <a:r>
              <a:rPr lang="en-US" sz="1050" kern="0" spc="-72" dirty="0">
                <a:solidFill>
                  <a:srgbClr val="F1F3E2"/>
                </a:solidFill>
                <a:latin typeface="DM Sans"/>
                <a:ea typeface="Arial" pitchFamily="34" charset="-122"/>
                <a:cs typeface="Arial" pitchFamily="34" charset="-120"/>
              </a:rPr>
              <a:t>Email</a:t>
            </a:r>
            <a:endParaRPr lang="en-US" sz="1050" dirty="0">
              <a:solidFill>
                <a:srgbClr val="F1F3E2"/>
              </a:solidFill>
              <a:latin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M Sans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1131</TotalTime>
  <Words>785</Words>
  <Application>Microsoft Macintosh PowerPoint</Application>
  <PresentationFormat>Custom</PresentationFormat>
  <Paragraphs>142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DM Sans</vt:lpstr>
      <vt:lpstr>DM Sans 14pt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Thomas Jordan</cp:lastModifiedBy>
  <cp:revision>55</cp:revision>
  <dcterms:created xsi:type="dcterms:W3CDTF">2026-04-25T02:21:32Z</dcterms:created>
  <dcterms:modified xsi:type="dcterms:W3CDTF">2026-05-15T15:26:48Z</dcterms:modified>
</cp:coreProperties>
</file>